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al MT Pro Bold" charset="1" panose="020B0802020202020204"/>
      <p:regular r:id="rId19"/>
    </p:embeddedFont>
    <p:embeddedFont>
      <p:font typeface="Arial MT Pro" charset="1" panose="020B0502020202020204"/>
      <p:regular r:id="rId20"/>
    </p:embeddedFont>
    <p:embeddedFont>
      <p:font typeface="Calibri (MS) Bold" charset="1" panose="020F0702030404030204"/>
      <p:regular r:id="rId21"/>
    </p:embeddedFont>
    <p:embeddedFont>
      <p:font typeface="Canva Sans Bold" charset="1" panose="020B0803030501040103"/>
      <p:regular r:id="rId22"/>
    </p:embeddedFont>
    <p:embeddedFont>
      <p:font typeface="Canva Sans" charset="1" panose="020B0503030501040103"/>
      <p:regular r:id="rId24"/>
    </p:embeddedFont>
    <p:embeddedFont>
      <p:font typeface="Canva Sans Italics" charset="1" panose="020B0503030501040103"/>
      <p:regular r:id="rId26"/>
    </p:embeddedFont>
    <p:embeddedFont>
      <p:font typeface="Red Hat Display Bold" charset="1" panose="02010803040201060303"/>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fonts/font24.fntdata" Type="http://schemas.openxmlformats.org/officeDocument/2006/relationships/font"/><Relationship Id="rId25" Target="notesSlides/notesSlide3.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My name is Abudlrahman, and in this video I will present my project titled</a:t>
            </a:r>
          </a:p>
          <a:p>
            <a:r>
              <a:rPr lang="en-US"/>
              <a:t>“IoT-Enabled Mobile Robot for Obstacle Detection and Remote Monitoring.”</a:t>
            </a:r>
          </a:p>
          <a:p>
            <a:r>
              <a:rPr lang="en-US"/>
              <a:t/>
            </a:r>
          </a:p>
          <a:p>
            <a:r>
              <a:rPr lang="en-US"/>
              <a:t>This project was developed using an ESP32 microcontroller, ultrasonic sensing, and a cloud-based IoT dashboard.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main use case of this project is an IoT-enabled mobile robot designed for obstacle detection and avoidance with remote monitoring in indoor environments.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shows the overall system architecture.</a:t>
            </a:r>
          </a:p>
          <a:p>
            <a:r>
              <a:rPr lang="en-US"/>
              <a:t/>
            </a:r>
          </a:p>
          <a:p>
            <a:r>
              <a:rPr lang="en-US"/>
              <a:t>The ultrasonic sensor collects distance data and sends it to the ESP32 microcontroller.</a:t>
            </a:r>
          </a:p>
          <a:p>
            <a:r>
              <a:rPr lang="en-US"/>
              <a:t>The ESP32 processes this data locally and decides whether the robot should move forward, stop, or enter a warning state.</a:t>
            </a:r>
          </a:p>
          <a:p>
            <a:r>
              <a:rPr lang="en-US"/>
              <a:t>robot state is rep...</a:t>
            </a:r>
          </a:p>
          <a:p>
            <a:r>
              <a:rPr lang="en-US"/>
              <a:t/>
            </a:r>
          </a:p>
          <a:p>
            <a:r>
              <a:rPr lang="en-US"/>
              <a:t>Selected data is then transmitted using Wi-Fi to the ThingSpeak cloud platform, where it can be viewed by the user through a dashboard.</a:t>
            </a:r>
          </a:p>
          <a:p>
            <a:r>
              <a:rPr lang="en-US"/>
              <a:t/>
            </a:r>
          </a:p>
          <a:p>
            <a:r>
              <a:rPr lang="en-US"/>
              <a:t>This design ensures fast local response while still supporting remote monitoring.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Battery monitoring is implemented using an ADC input, which is simulated in Wokwi using a potentiometer.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software is designed around a simple decision-making logic.</a:t>
            </a:r>
          </a:p>
          <a:p>
            <a:r>
              <a:rPr lang="en-US"/>
              <a:t/>
            </a:r>
          </a:p>
          <a:p>
            <a:r>
              <a:rPr lang="en-US"/>
              <a:t>First, the ESP32 reads the distance from the ultrasonic sensor and the battery level from the ADC input.</a:t>
            </a:r>
          </a:p>
          <a:p>
            <a:r>
              <a:rPr lang="en-US"/>
              <a:t>If the battery level is low, the robot enters a safe mode and displays a warning state.</a:t>
            </a:r>
          </a:p>
          <a:p>
            <a:r>
              <a:rPr lang="en-US"/>
              <a:t/>
            </a:r>
          </a:p>
          <a:p>
            <a:r>
              <a:rPr lang="en-US"/>
              <a:t>If the battery level is normal, the distance is checked.</a:t>
            </a:r>
          </a:p>
          <a:p>
            <a:r>
              <a:rPr lang="en-US"/>
              <a:t>If an obstacle is detected, the robot stops. Otherwise, it continues moving forward.</a:t>
            </a:r>
          </a:p>
          <a:p>
            <a:r>
              <a:rPr lang="en-US"/>
              <a:t/>
            </a:r>
          </a:p>
          <a:p>
            <a:r>
              <a:rPr lang="en-US"/>
              <a:t>This logic ensures safe and reliable operation.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communication, the ESP32 uses Wi-Fi and the HTTP protocol.</a:t>
            </a:r>
          </a:p>
          <a:p>
            <a:r>
              <a:rPr lang="en-US"/>
              <a:t/>
            </a:r>
          </a:p>
          <a:p>
            <a:r>
              <a:rPr lang="en-US"/>
              <a:t>The ThingSpeak cloud platform is used to store and visualize the data.</a:t>
            </a:r>
          </a:p>
          <a:p>
            <a:r>
              <a:rPr lang="en-US"/>
              <a:t>The data sent includes distance measurements, robot state, battery percentage, and low-battery alerts.</a:t>
            </a:r>
          </a:p>
          <a:p>
            <a:r>
              <a:rPr lang="en-US"/>
              <a:t/>
            </a:r>
          </a:p>
          <a:p>
            <a:r>
              <a:rPr lang="en-US"/>
              <a:t>This allows the robot to be monitored remotely through charts and numeric displays on the dashboard.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Power management is an important aspect of this project.</a:t>
            </a:r>
          </a:p>
          <a:p>
            <a:r>
              <a:rPr lang="en-US"/>
              <a:t>Battery level is continuously monitored, and a low-battery condition triggers a warning and safe stop.</a:t>
            </a:r>
          </a:p>
          <a:p>
            <a:r>
              <a:rPr lang="en-US"/>
              <a:t/>
            </a:r>
          </a:p>
          <a:p>
            <a:r>
              <a:rPr lang="en-US"/>
              <a:t>To reduce power consumption, cloud updates are limited to once every 15 seconds.</a:t>
            </a:r>
          </a:p>
          <a:p>
            <a:r>
              <a:rPr lang="en-US"/>
              <a:t/>
            </a:r>
          </a:p>
          <a:p>
            <a:r>
              <a:rPr lang="en-US"/>
              <a:t>In terms of security, the ThingSpeak channel is private and requires an API key for data upload, preventing unauthorized access.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1454" y="877892"/>
            <a:ext cx="18248481" cy="10287000"/>
            <a:chOff x="0" y="0"/>
            <a:chExt cx="24331308" cy="13716000"/>
          </a:xfrm>
        </p:grpSpPr>
        <p:sp>
          <p:nvSpPr>
            <p:cNvPr name="Freeform 3" id="3" descr="Text"/>
            <p:cNvSpPr/>
            <p:nvPr/>
          </p:nvSpPr>
          <p:spPr>
            <a:xfrm flipH="false" flipV="false" rot="0">
              <a:off x="0" y="0"/>
              <a:ext cx="24331295" cy="13716000"/>
            </a:xfrm>
            <a:custGeom>
              <a:avLst/>
              <a:gdLst/>
              <a:ahLst/>
              <a:cxnLst/>
              <a:rect r="r" b="b" t="t" l="l"/>
              <a:pathLst>
                <a:path h="13716000" w="24331295">
                  <a:moveTo>
                    <a:pt x="0" y="0"/>
                  </a:moveTo>
                  <a:lnTo>
                    <a:pt x="24331295" y="0"/>
                  </a:lnTo>
                  <a:lnTo>
                    <a:pt x="24331295" y="13716000"/>
                  </a:lnTo>
                  <a:lnTo>
                    <a:pt x="0" y="13716000"/>
                  </a:lnTo>
                  <a:lnTo>
                    <a:pt x="0" y="0"/>
                  </a:lnTo>
                  <a:close/>
                </a:path>
              </a:pathLst>
            </a:custGeom>
            <a:blipFill>
              <a:blip r:embed="rId3"/>
              <a:stretch>
                <a:fillRect l="0" t="0" r="-21" b="0"/>
              </a:stretch>
            </a:blipFill>
          </p:spPr>
        </p:sp>
      </p:grpSp>
      <p:grpSp>
        <p:nvGrpSpPr>
          <p:cNvPr name="Group 4" id="4"/>
          <p:cNvGrpSpPr/>
          <p:nvPr/>
        </p:nvGrpSpPr>
        <p:grpSpPr>
          <a:xfrm rot="0">
            <a:off x="241454" y="877892"/>
            <a:ext cx="18248481" cy="10287000"/>
            <a:chOff x="0" y="0"/>
            <a:chExt cx="24331308" cy="13716000"/>
          </a:xfrm>
        </p:grpSpPr>
        <p:sp>
          <p:nvSpPr>
            <p:cNvPr name="Freeform 5" id="5" descr="Text"/>
            <p:cNvSpPr/>
            <p:nvPr/>
          </p:nvSpPr>
          <p:spPr>
            <a:xfrm flipH="false" flipV="false" rot="0">
              <a:off x="0" y="0"/>
              <a:ext cx="24331295" cy="13716000"/>
            </a:xfrm>
            <a:custGeom>
              <a:avLst/>
              <a:gdLst/>
              <a:ahLst/>
              <a:cxnLst/>
              <a:rect r="r" b="b" t="t" l="l"/>
              <a:pathLst>
                <a:path h="13716000" w="24331295">
                  <a:moveTo>
                    <a:pt x="0" y="0"/>
                  </a:moveTo>
                  <a:lnTo>
                    <a:pt x="24331295" y="0"/>
                  </a:lnTo>
                  <a:lnTo>
                    <a:pt x="24331295" y="13716000"/>
                  </a:lnTo>
                  <a:lnTo>
                    <a:pt x="0" y="13716000"/>
                  </a:lnTo>
                  <a:lnTo>
                    <a:pt x="0" y="0"/>
                  </a:lnTo>
                  <a:close/>
                </a:path>
              </a:pathLst>
            </a:custGeom>
            <a:blipFill>
              <a:blip r:embed="rId3"/>
              <a:stretch>
                <a:fillRect l="0" t="0" r="-21" b="0"/>
              </a:stretch>
            </a:blipFill>
          </p:spPr>
        </p:sp>
      </p:grpSp>
      <p:grpSp>
        <p:nvGrpSpPr>
          <p:cNvPr name="Group 6" id="6"/>
          <p:cNvGrpSpPr/>
          <p:nvPr/>
        </p:nvGrpSpPr>
        <p:grpSpPr>
          <a:xfrm rot="0">
            <a:off x="19759" y="0"/>
            <a:ext cx="18248481" cy="10287000"/>
            <a:chOff x="0" y="0"/>
            <a:chExt cx="24331308" cy="13716000"/>
          </a:xfrm>
        </p:grpSpPr>
        <p:sp>
          <p:nvSpPr>
            <p:cNvPr name="Freeform 7" id="7"/>
            <p:cNvSpPr/>
            <p:nvPr/>
          </p:nvSpPr>
          <p:spPr>
            <a:xfrm flipH="false" flipV="false" rot="0">
              <a:off x="0" y="0"/>
              <a:ext cx="24331295" cy="13716000"/>
            </a:xfrm>
            <a:custGeom>
              <a:avLst/>
              <a:gdLst/>
              <a:ahLst/>
              <a:cxnLst/>
              <a:rect r="r" b="b" t="t" l="l"/>
              <a:pathLst>
                <a:path h="13716000" w="24331295">
                  <a:moveTo>
                    <a:pt x="0" y="0"/>
                  </a:moveTo>
                  <a:lnTo>
                    <a:pt x="24331295" y="0"/>
                  </a:lnTo>
                  <a:lnTo>
                    <a:pt x="24331295" y="13716000"/>
                  </a:lnTo>
                  <a:lnTo>
                    <a:pt x="0" y="13716000"/>
                  </a:lnTo>
                  <a:lnTo>
                    <a:pt x="0" y="0"/>
                  </a:lnTo>
                  <a:close/>
                </a:path>
              </a:pathLst>
            </a:custGeom>
            <a:blipFill>
              <a:blip r:embed="rId4"/>
              <a:stretch>
                <a:fillRect l="0" t="0" r="-21" b="0"/>
              </a:stretch>
            </a:blipFill>
          </p:spPr>
        </p:sp>
      </p:grpSp>
      <p:sp>
        <p:nvSpPr>
          <p:cNvPr name="TextBox 8" id="8"/>
          <p:cNvSpPr txBox="true"/>
          <p:nvPr/>
        </p:nvSpPr>
        <p:spPr>
          <a:xfrm rot="0">
            <a:off x="9356334" y="6699210"/>
            <a:ext cx="8185182" cy="523875"/>
          </a:xfrm>
          <a:prstGeom prst="rect">
            <a:avLst/>
          </a:prstGeom>
        </p:spPr>
        <p:txBody>
          <a:bodyPr anchor="t" rtlCol="false" tIns="0" lIns="0" bIns="0" rIns="0">
            <a:spAutoFit/>
          </a:bodyPr>
          <a:lstStyle/>
          <a:p>
            <a:pPr algn="ctr">
              <a:lnSpc>
                <a:spcPts val="3600"/>
              </a:lnSpc>
            </a:pPr>
            <a:r>
              <a:rPr lang="en-US" sz="3000" b="true">
                <a:solidFill>
                  <a:srgbClr val="000000"/>
                </a:solidFill>
                <a:latin typeface="Arial MT Pro Bold"/>
                <a:ea typeface="Arial MT Pro Bold"/>
                <a:cs typeface="Arial MT Pro Bold"/>
                <a:sym typeface="Arial MT Pro Bold"/>
              </a:rPr>
              <a:t>Name: </a:t>
            </a:r>
            <a:r>
              <a:rPr lang="en-US" sz="3000">
                <a:solidFill>
                  <a:srgbClr val="000000"/>
                </a:solidFill>
                <a:latin typeface="Arial MT Pro"/>
                <a:ea typeface="Arial MT Pro"/>
                <a:cs typeface="Arial MT Pro"/>
                <a:sym typeface="Arial MT Pro"/>
              </a:rPr>
              <a:t>Ab</a:t>
            </a:r>
            <a:r>
              <a:rPr lang="en-US" sz="3000">
                <a:solidFill>
                  <a:srgbClr val="000000"/>
                </a:solidFill>
                <a:latin typeface="Arial MT Pro"/>
                <a:ea typeface="Arial MT Pro"/>
                <a:cs typeface="Arial MT Pro"/>
                <a:sym typeface="Arial MT Pro"/>
              </a:rPr>
              <a:t>dulrahman Omar Abobakr Alamodi </a:t>
            </a:r>
          </a:p>
        </p:txBody>
      </p:sp>
      <p:grpSp>
        <p:nvGrpSpPr>
          <p:cNvPr name="Group 9" id="9"/>
          <p:cNvGrpSpPr/>
          <p:nvPr/>
        </p:nvGrpSpPr>
        <p:grpSpPr>
          <a:xfrm rot="0">
            <a:off x="6890644" y="686033"/>
            <a:ext cx="11599291" cy="2933290"/>
            <a:chOff x="0" y="0"/>
            <a:chExt cx="15465721" cy="3911054"/>
          </a:xfrm>
        </p:grpSpPr>
        <p:sp>
          <p:nvSpPr>
            <p:cNvPr name="Freeform 10" id="10"/>
            <p:cNvSpPr/>
            <p:nvPr/>
          </p:nvSpPr>
          <p:spPr>
            <a:xfrm flipH="false" flipV="false" rot="0">
              <a:off x="0" y="0"/>
              <a:ext cx="15465721" cy="3911054"/>
            </a:xfrm>
            <a:custGeom>
              <a:avLst/>
              <a:gdLst/>
              <a:ahLst/>
              <a:cxnLst/>
              <a:rect r="r" b="b" t="t" l="l"/>
              <a:pathLst>
                <a:path h="3911054" w="15465721">
                  <a:moveTo>
                    <a:pt x="0" y="0"/>
                  </a:moveTo>
                  <a:lnTo>
                    <a:pt x="15465721" y="0"/>
                  </a:lnTo>
                  <a:lnTo>
                    <a:pt x="15465721" y="3911054"/>
                  </a:lnTo>
                  <a:lnTo>
                    <a:pt x="0" y="3911054"/>
                  </a:lnTo>
                  <a:close/>
                </a:path>
              </a:pathLst>
            </a:custGeom>
            <a:solidFill>
              <a:srgbClr val="000000">
                <a:alpha val="0"/>
              </a:srgbClr>
            </a:solidFill>
          </p:spPr>
        </p:sp>
        <p:sp>
          <p:nvSpPr>
            <p:cNvPr name="TextBox 11" id="11"/>
            <p:cNvSpPr txBox="true"/>
            <p:nvPr/>
          </p:nvSpPr>
          <p:spPr>
            <a:xfrm>
              <a:off x="0" y="-85725"/>
              <a:ext cx="15465721" cy="3996779"/>
            </a:xfrm>
            <a:prstGeom prst="rect">
              <a:avLst/>
            </a:prstGeom>
          </p:spPr>
          <p:txBody>
            <a:bodyPr anchor="ctr" rtlCol="false" tIns="0" lIns="0" bIns="0" rIns="0"/>
            <a:lstStyle/>
            <a:p>
              <a:pPr algn="ctr">
                <a:lnSpc>
                  <a:spcPts val="5040"/>
                </a:lnSpc>
              </a:pPr>
              <a:r>
                <a:rPr lang="en-US" b="true" sz="4200" spc="-7">
                  <a:solidFill>
                    <a:srgbClr val="000000"/>
                  </a:solidFill>
                  <a:latin typeface="Calibri (MS) Bold"/>
                  <a:ea typeface="Calibri (MS) Bold"/>
                  <a:cs typeface="Calibri (MS) Bold"/>
                  <a:sym typeface="Calibri (MS) Bold"/>
                </a:rPr>
                <a:t>IoT-Enabled ESP32 Mobile Robot for Obstacle Detection and Remote Monitoring</a:t>
              </a:r>
            </a:p>
          </p:txBody>
        </p:sp>
      </p:grpSp>
      <p:sp>
        <p:nvSpPr>
          <p:cNvPr name="TextBox 12" id="12"/>
          <p:cNvSpPr txBox="true"/>
          <p:nvPr/>
        </p:nvSpPr>
        <p:spPr>
          <a:xfrm rot="0">
            <a:off x="-476250" y="6170890"/>
            <a:ext cx="8157676" cy="396239"/>
          </a:xfrm>
          <a:prstGeom prst="rect">
            <a:avLst/>
          </a:prstGeom>
        </p:spPr>
        <p:txBody>
          <a:bodyPr anchor="t" rtlCol="false" tIns="0" lIns="0" bIns="0" rIns="0">
            <a:spAutoFit/>
          </a:bodyPr>
          <a:lstStyle/>
          <a:p>
            <a:pPr algn="ctr">
              <a:lnSpc>
                <a:spcPts val="3360"/>
              </a:lnSpc>
            </a:pPr>
            <a:r>
              <a:rPr lang="en-US" sz="2400" b="true">
                <a:solidFill>
                  <a:srgbClr val="000000"/>
                </a:solidFill>
                <a:latin typeface="Canva Sans Bold"/>
                <a:ea typeface="Canva Sans Bold"/>
                <a:cs typeface="Canva Sans Bold"/>
                <a:sym typeface="Canva Sans Bold"/>
              </a:rPr>
              <a:t>Schoo</a:t>
            </a:r>
            <a:r>
              <a:rPr lang="en-US" b="true" sz="2400">
                <a:solidFill>
                  <a:srgbClr val="000000"/>
                </a:solidFill>
                <a:latin typeface="Canva Sans Bold"/>
                <a:ea typeface="Canva Sans Bold"/>
                <a:cs typeface="Canva Sans Bold"/>
                <a:sym typeface="Canva Sans Bold"/>
              </a:rPr>
              <a:t>l of Computing and Informatics</a:t>
            </a:r>
          </a:p>
        </p:txBody>
      </p:sp>
      <p:sp>
        <p:nvSpPr>
          <p:cNvPr name="TextBox 13" id="13"/>
          <p:cNvSpPr txBox="true"/>
          <p:nvPr/>
        </p:nvSpPr>
        <p:spPr>
          <a:xfrm rot="0">
            <a:off x="9115732" y="4201940"/>
            <a:ext cx="8185182" cy="523875"/>
          </a:xfrm>
          <a:prstGeom prst="rect">
            <a:avLst/>
          </a:prstGeom>
        </p:spPr>
        <p:txBody>
          <a:bodyPr anchor="t" rtlCol="false" tIns="0" lIns="0" bIns="0" rIns="0">
            <a:spAutoFit/>
          </a:bodyPr>
          <a:lstStyle/>
          <a:p>
            <a:pPr algn="ctr">
              <a:lnSpc>
                <a:spcPts val="3600"/>
              </a:lnSpc>
            </a:pPr>
            <a:r>
              <a:rPr lang="en-US" sz="3000" b="true">
                <a:solidFill>
                  <a:srgbClr val="000000"/>
                </a:solidFill>
                <a:latin typeface="Arial MT Pro Bold"/>
                <a:ea typeface="Arial MT Pro Bold"/>
                <a:cs typeface="Arial MT Pro Bold"/>
                <a:sym typeface="Arial MT Pro Bold"/>
              </a:rPr>
              <a:t>Course Name</a:t>
            </a:r>
            <a:r>
              <a:rPr lang="en-US" sz="3000">
                <a:solidFill>
                  <a:srgbClr val="000000"/>
                </a:solidFill>
                <a:latin typeface="Arial MT Pro"/>
                <a:ea typeface="Arial MT Pro"/>
                <a:cs typeface="Arial MT Pro"/>
                <a:sym typeface="Arial MT Pro"/>
              </a:rPr>
              <a:t> : Internet of Things (IoT)</a:t>
            </a:r>
          </a:p>
        </p:txBody>
      </p:sp>
      <p:sp>
        <p:nvSpPr>
          <p:cNvPr name="TextBox 14" id="14"/>
          <p:cNvSpPr txBox="true"/>
          <p:nvPr/>
        </p:nvSpPr>
        <p:spPr>
          <a:xfrm rot="0">
            <a:off x="8944282" y="4735340"/>
            <a:ext cx="8185182" cy="523875"/>
          </a:xfrm>
          <a:prstGeom prst="rect">
            <a:avLst/>
          </a:prstGeom>
        </p:spPr>
        <p:txBody>
          <a:bodyPr anchor="t" rtlCol="false" tIns="0" lIns="0" bIns="0" rIns="0">
            <a:spAutoFit/>
          </a:bodyPr>
          <a:lstStyle/>
          <a:p>
            <a:pPr algn="ctr">
              <a:lnSpc>
                <a:spcPts val="3600"/>
              </a:lnSpc>
            </a:pPr>
            <a:r>
              <a:rPr lang="en-US" sz="3000" b="true">
                <a:solidFill>
                  <a:srgbClr val="000000"/>
                </a:solidFill>
                <a:latin typeface="Arial MT Pro Bold"/>
                <a:ea typeface="Arial MT Pro Bold"/>
                <a:cs typeface="Arial MT Pro Bold"/>
                <a:sym typeface="Arial MT Pro Bold"/>
              </a:rPr>
              <a:t>Course Code </a:t>
            </a:r>
            <a:r>
              <a:rPr lang="en-US" sz="3000">
                <a:solidFill>
                  <a:srgbClr val="000000"/>
                </a:solidFill>
                <a:latin typeface="Arial MT Pro"/>
                <a:ea typeface="Arial MT Pro"/>
                <a:cs typeface="Arial MT Pro"/>
                <a:sym typeface="Arial MT Pro"/>
              </a:rPr>
              <a:t>: CDE2243</a:t>
            </a:r>
          </a:p>
        </p:txBody>
      </p:sp>
      <p:sp>
        <p:nvSpPr>
          <p:cNvPr name="TextBox 15" id="15"/>
          <p:cNvSpPr txBox="true"/>
          <p:nvPr/>
        </p:nvSpPr>
        <p:spPr>
          <a:xfrm rot="0">
            <a:off x="8963332" y="5268740"/>
            <a:ext cx="8185182" cy="523875"/>
          </a:xfrm>
          <a:prstGeom prst="rect">
            <a:avLst/>
          </a:prstGeom>
        </p:spPr>
        <p:txBody>
          <a:bodyPr anchor="t" rtlCol="false" tIns="0" lIns="0" bIns="0" rIns="0">
            <a:spAutoFit/>
          </a:bodyPr>
          <a:lstStyle/>
          <a:p>
            <a:pPr algn="ctr">
              <a:lnSpc>
                <a:spcPts val="3600"/>
              </a:lnSpc>
            </a:pPr>
            <a:r>
              <a:rPr lang="en-US" sz="3000" b="true">
                <a:solidFill>
                  <a:srgbClr val="000000"/>
                </a:solidFill>
                <a:latin typeface="Arial MT Pro Bold"/>
                <a:ea typeface="Arial MT Pro Bold"/>
                <a:cs typeface="Arial MT Pro Bold"/>
                <a:sym typeface="Arial MT Pro Bold"/>
              </a:rPr>
              <a:t>Instructor </a:t>
            </a:r>
            <a:r>
              <a:rPr lang="en-US" sz="3000">
                <a:solidFill>
                  <a:srgbClr val="000000"/>
                </a:solidFill>
                <a:latin typeface="Arial MT Pro"/>
                <a:ea typeface="Arial MT Pro"/>
                <a:cs typeface="Arial MT Pro"/>
                <a:sym typeface="Arial MT Pro"/>
              </a:rPr>
              <a:t>: Ts. Mohd Zulkifli Mohd Zaki</a:t>
            </a:r>
          </a:p>
        </p:txBody>
      </p:sp>
      <p:sp>
        <p:nvSpPr>
          <p:cNvPr name="TextBox 16" id="16"/>
          <p:cNvSpPr txBox="true"/>
          <p:nvPr/>
        </p:nvSpPr>
        <p:spPr>
          <a:xfrm rot="0">
            <a:off x="9356334" y="7156410"/>
            <a:ext cx="8185182" cy="523875"/>
          </a:xfrm>
          <a:prstGeom prst="rect">
            <a:avLst/>
          </a:prstGeom>
        </p:spPr>
        <p:txBody>
          <a:bodyPr anchor="t" rtlCol="false" tIns="0" lIns="0" bIns="0" rIns="0">
            <a:spAutoFit/>
          </a:bodyPr>
          <a:lstStyle/>
          <a:p>
            <a:pPr algn="ctr">
              <a:lnSpc>
                <a:spcPts val="3600"/>
              </a:lnSpc>
            </a:pPr>
            <a:r>
              <a:rPr lang="en-US" sz="3000" b="true">
                <a:solidFill>
                  <a:srgbClr val="000000"/>
                </a:solidFill>
                <a:latin typeface="Arial MT Pro Bold"/>
                <a:ea typeface="Arial MT Pro Bold"/>
                <a:cs typeface="Arial MT Pro Bold"/>
                <a:sym typeface="Arial MT Pro Bold"/>
              </a:rPr>
              <a:t>Group : </a:t>
            </a:r>
            <a:r>
              <a:rPr lang="en-US" sz="3000">
                <a:solidFill>
                  <a:srgbClr val="000000"/>
                </a:solidFill>
                <a:latin typeface="Arial MT Pro"/>
                <a:ea typeface="Arial MT Pro"/>
                <a:cs typeface="Arial MT Pro"/>
                <a:sym typeface="Arial MT Pro"/>
              </a:rPr>
              <a:t>B</a:t>
            </a:r>
          </a:p>
        </p:txBody>
      </p:sp>
      <p:sp>
        <p:nvSpPr>
          <p:cNvPr name="TextBox 17" id="17"/>
          <p:cNvSpPr txBox="true"/>
          <p:nvPr/>
        </p:nvSpPr>
        <p:spPr>
          <a:xfrm rot="0">
            <a:off x="7484535" y="2990673"/>
            <a:ext cx="10301126" cy="523875"/>
          </a:xfrm>
          <a:prstGeom prst="rect">
            <a:avLst/>
          </a:prstGeom>
        </p:spPr>
        <p:txBody>
          <a:bodyPr anchor="t" rtlCol="false" tIns="0" lIns="0" bIns="0" rIns="0">
            <a:spAutoFit/>
          </a:bodyPr>
          <a:lstStyle/>
          <a:p>
            <a:pPr algn="ctr">
              <a:lnSpc>
                <a:spcPts val="3600"/>
              </a:lnSpc>
            </a:pPr>
            <a:r>
              <a:rPr lang="en-US" sz="3000" b="true">
                <a:solidFill>
                  <a:srgbClr val="000000"/>
                </a:solidFill>
                <a:latin typeface="Arial MT Pro Bold"/>
                <a:ea typeface="Arial MT Pro Bold"/>
                <a:cs typeface="Arial MT Pro Bold"/>
                <a:sym typeface="Arial MT Pro Bold"/>
              </a:rPr>
              <a:t>Using ESP32, U</a:t>
            </a:r>
            <a:r>
              <a:rPr lang="en-US" sz="3000" b="true">
                <a:solidFill>
                  <a:srgbClr val="000000"/>
                </a:solidFill>
                <a:latin typeface="Arial MT Pro Bold"/>
                <a:ea typeface="Arial MT Pro Bold"/>
                <a:cs typeface="Arial MT Pro Bold"/>
                <a:sym typeface="Arial MT Pro Bold"/>
              </a:rPr>
              <a:t>ltrasonic Sensor, and ThingSpeak Cloud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77390" y="1432372"/>
            <a:ext cx="16447162" cy="0"/>
          </a:xfrm>
          <a:prstGeom prst="line">
            <a:avLst/>
          </a:prstGeom>
          <a:ln cap="flat" w="95250">
            <a:solidFill>
              <a:srgbClr val="545454"/>
            </a:solidFill>
            <a:prstDash val="solid"/>
            <a:headEnd type="none" len="sm" w="sm"/>
            <a:tailEnd type="none" len="sm" w="sm"/>
          </a:ln>
        </p:spPr>
      </p:sp>
      <p:sp>
        <p:nvSpPr>
          <p:cNvPr name="Freeform 3" id="3"/>
          <p:cNvSpPr/>
          <p:nvPr/>
        </p:nvSpPr>
        <p:spPr>
          <a:xfrm flipH="false" flipV="false" rot="0">
            <a:off x="13434940" y="1580196"/>
            <a:ext cx="3563304" cy="3563304"/>
          </a:xfrm>
          <a:custGeom>
            <a:avLst/>
            <a:gdLst/>
            <a:ahLst/>
            <a:cxnLst/>
            <a:rect r="r" b="b" t="t" l="l"/>
            <a:pathLst>
              <a:path h="3563304" w="3563304">
                <a:moveTo>
                  <a:pt x="0" y="0"/>
                </a:moveTo>
                <a:lnTo>
                  <a:pt x="3563305" y="0"/>
                </a:lnTo>
                <a:lnTo>
                  <a:pt x="3563305" y="3563304"/>
                </a:lnTo>
                <a:lnTo>
                  <a:pt x="0" y="35633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95250" y="5124450"/>
            <a:ext cx="13697549" cy="3662045"/>
          </a:xfrm>
          <a:prstGeom prst="rect">
            <a:avLst/>
          </a:prstGeom>
        </p:spPr>
        <p:txBody>
          <a:bodyPr anchor="t" rtlCol="false" tIns="0" lIns="0" bIns="0" rIns="0">
            <a:spAutoFit/>
          </a:bodyPr>
          <a:lstStyle/>
          <a:p>
            <a:pPr algn="just" marL="604519" indent="-302260" lvl="1">
              <a:lnSpc>
                <a:spcPts val="4899"/>
              </a:lnSpc>
              <a:buFont typeface="Arial"/>
              <a:buChar char="•"/>
            </a:pPr>
            <a:r>
              <a:rPr lang="en-US" b="true" sz="2799">
                <a:solidFill>
                  <a:srgbClr val="000000"/>
                </a:solidFill>
                <a:latin typeface="Canva Sans Bold"/>
                <a:ea typeface="Canva Sans Bold"/>
                <a:cs typeface="Canva Sans Bold"/>
                <a:sym typeface="Canva Sans Bold"/>
              </a:rPr>
              <a:t>Implement real-time obstacle detection for safe and autonomous navigation of robots.</a:t>
            </a:r>
          </a:p>
          <a:p>
            <a:pPr algn="just" marL="604519" indent="-302260" lvl="1">
              <a:lnSpc>
                <a:spcPts val="4899"/>
              </a:lnSpc>
              <a:buFont typeface="Arial"/>
              <a:buChar char="•"/>
            </a:pPr>
            <a:r>
              <a:rPr lang="en-US" b="true" sz="2799">
                <a:solidFill>
                  <a:srgbClr val="000000"/>
                </a:solidFill>
                <a:latin typeface="Canva Sans Bold"/>
                <a:ea typeface="Canva Sans Bold"/>
                <a:cs typeface="Canva Sans Bold"/>
                <a:sym typeface="Canva Sans Bold"/>
              </a:rPr>
              <a:t>Enable continu</a:t>
            </a:r>
            <a:r>
              <a:rPr lang="en-US" b="true" sz="2799">
                <a:solidFill>
                  <a:srgbClr val="000000"/>
                </a:solidFill>
                <a:latin typeface="Canva Sans Bold"/>
                <a:ea typeface="Canva Sans Bold"/>
                <a:cs typeface="Canva Sans Bold"/>
                <a:sym typeface="Canva Sans Bold"/>
              </a:rPr>
              <a:t>ous monitoring of sensor data and robot status via a cloud-based dashboard.</a:t>
            </a:r>
          </a:p>
          <a:p>
            <a:pPr algn="just" marL="604519" indent="-302260" lvl="1">
              <a:lnSpc>
                <a:spcPts val="4899"/>
              </a:lnSpc>
              <a:buFont typeface="Arial"/>
              <a:buChar char="•"/>
            </a:pPr>
            <a:r>
              <a:rPr lang="en-US" b="true" sz="2799">
                <a:solidFill>
                  <a:srgbClr val="000000"/>
                </a:solidFill>
                <a:latin typeface="Canva Sans Bold"/>
                <a:ea typeface="Canva Sans Bold"/>
                <a:cs typeface="Canva Sans Bold"/>
                <a:sym typeface="Canva Sans Bold"/>
              </a:rPr>
              <a:t>Develop a comprehensive IoT mobile robot system that integrates hardware, software, and cloud components.</a:t>
            </a:r>
          </a:p>
        </p:txBody>
      </p:sp>
      <p:sp>
        <p:nvSpPr>
          <p:cNvPr name="TextBox 5" id="5"/>
          <p:cNvSpPr txBox="true"/>
          <p:nvPr/>
        </p:nvSpPr>
        <p:spPr>
          <a:xfrm rot="0">
            <a:off x="6356562" y="312884"/>
            <a:ext cx="7078378" cy="554568"/>
          </a:xfrm>
          <a:prstGeom prst="rect">
            <a:avLst/>
          </a:prstGeom>
        </p:spPr>
        <p:txBody>
          <a:bodyPr anchor="t" rtlCol="false" tIns="0" lIns="0" bIns="0" rIns="0">
            <a:spAutoFit/>
          </a:bodyPr>
          <a:lstStyle/>
          <a:p>
            <a:pPr algn="l">
              <a:lnSpc>
                <a:spcPts val="4356"/>
              </a:lnSpc>
            </a:pPr>
            <a:r>
              <a:rPr lang="en-US" b="true" sz="4585" spc="-4">
                <a:solidFill>
                  <a:srgbClr val="FFFFFF"/>
                </a:solidFill>
                <a:latin typeface="Calibri (MS) Bold"/>
                <a:ea typeface="Calibri (MS) Bold"/>
                <a:cs typeface="Calibri (MS) Bold"/>
                <a:sym typeface="Calibri (MS) Bold"/>
              </a:rPr>
              <a:t>Click to edit Master title style</a:t>
            </a:r>
          </a:p>
        </p:txBody>
      </p:sp>
      <p:sp>
        <p:nvSpPr>
          <p:cNvPr name="TextBox 6" id="6"/>
          <p:cNvSpPr txBox="true"/>
          <p:nvPr/>
        </p:nvSpPr>
        <p:spPr>
          <a:xfrm rot="0">
            <a:off x="-2597004" y="376279"/>
            <a:ext cx="15354895"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 IoT Use Case &amp; Project Goals</a:t>
            </a:r>
          </a:p>
        </p:txBody>
      </p:sp>
      <p:sp>
        <p:nvSpPr>
          <p:cNvPr name="TextBox 7" id="7"/>
          <p:cNvSpPr txBox="true"/>
          <p:nvPr/>
        </p:nvSpPr>
        <p:spPr>
          <a:xfrm rot="0">
            <a:off x="375909" y="1736092"/>
            <a:ext cx="11474220" cy="2380615"/>
          </a:xfrm>
          <a:prstGeom prst="rect">
            <a:avLst/>
          </a:prstGeom>
        </p:spPr>
        <p:txBody>
          <a:bodyPr anchor="t" rtlCol="false" tIns="0" lIns="0" bIns="0" rIns="0">
            <a:spAutoFit/>
          </a:bodyPr>
          <a:lstStyle/>
          <a:p>
            <a:pPr algn="just">
              <a:lnSpc>
                <a:spcPts val="4759"/>
              </a:lnSpc>
            </a:pPr>
            <a:r>
              <a:rPr lang="en-US" sz="3399">
                <a:solidFill>
                  <a:srgbClr val="000000"/>
                </a:solidFill>
                <a:latin typeface="Canva Sans"/>
                <a:ea typeface="Canva Sans"/>
                <a:cs typeface="Canva Sans"/>
                <a:sym typeface="Canva Sans"/>
              </a:rPr>
              <a:t>The project</a:t>
            </a:r>
            <a:r>
              <a:rPr lang="en-US" sz="3399">
                <a:solidFill>
                  <a:srgbClr val="000000"/>
                </a:solidFill>
                <a:latin typeface="Canva Sans"/>
                <a:ea typeface="Canva Sans"/>
                <a:cs typeface="Canva Sans"/>
                <a:sym typeface="Canva Sans"/>
              </a:rPr>
              <a:t> aims to develop a mobile robot that detects and avoids obstacles while providing remote monitoring capabilities. It enhances automation and safety in various environments.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2" r="0" b="-62"/>
            </a:stretch>
          </a:blipFill>
        </p:spPr>
      </p:sp>
      <p:sp>
        <p:nvSpPr>
          <p:cNvPr name="AutoShape 3" id="3"/>
          <p:cNvSpPr/>
          <p:nvPr/>
        </p:nvSpPr>
        <p:spPr>
          <a:xfrm>
            <a:off x="477390" y="981075"/>
            <a:ext cx="16447162" cy="0"/>
          </a:xfrm>
          <a:prstGeom prst="line">
            <a:avLst/>
          </a:prstGeom>
          <a:ln cap="flat" w="95250">
            <a:solidFill>
              <a:srgbClr val="545454"/>
            </a:solidFill>
            <a:prstDash val="solid"/>
            <a:headEnd type="none" len="sm" w="sm"/>
            <a:tailEnd type="none" len="sm" w="sm"/>
          </a:ln>
        </p:spPr>
      </p:sp>
      <p:sp>
        <p:nvSpPr>
          <p:cNvPr name="TextBox 4" id="4"/>
          <p:cNvSpPr txBox="true"/>
          <p:nvPr/>
        </p:nvSpPr>
        <p:spPr>
          <a:xfrm rot="0">
            <a:off x="515490" y="-123825"/>
            <a:ext cx="10780137" cy="962660"/>
          </a:xfrm>
          <a:prstGeom prst="rect">
            <a:avLst/>
          </a:prstGeom>
        </p:spPr>
        <p:txBody>
          <a:bodyPr anchor="t" rtlCol="false" tIns="0" lIns="0" bIns="0" rIns="0">
            <a:spAutoFit/>
          </a:bodyPr>
          <a:lstStyle/>
          <a:p>
            <a:pPr algn="ctr">
              <a:lnSpc>
                <a:spcPts val="7840"/>
              </a:lnSpc>
            </a:pPr>
            <a:r>
              <a:rPr lang="en-US" sz="5600" b="true">
                <a:solidFill>
                  <a:srgbClr val="000000"/>
                </a:solidFill>
                <a:latin typeface="Canva Sans Bold"/>
                <a:ea typeface="Canva Sans Bold"/>
                <a:cs typeface="Canva Sans Bold"/>
                <a:sym typeface="Canva Sans Bold"/>
              </a:rPr>
              <a:t>System Architecture</a:t>
            </a:r>
            <a:r>
              <a:rPr lang="en-US" b="true" sz="5600">
                <a:solidFill>
                  <a:srgbClr val="000000"/>
                </a:solidFill>
                <a:latin typeface="Canva Sans Bold"/>
                <a:ea typeface="Canva Sans Bold"/>
                <a:cs typeface="Canva Sans Bold"/>
                <a:sym typeface="Canva Sans Bold"/>
              </a:rPr>
              <a:t> Overview</a:t>
            </a:r>
          </a:p>
        </p:txBody>
      </p:sp>
      <p:sp>
        <p:nvSpPr>
          <p:cNvPr name="TextBox 5" id="5"/>
          <p:cNvSpPr txBox="true"/>
          <p:nvPr/>
        </p:nvSpPr>
        <p:spPr>
          <a:xfrm rot="0">
            <a:off x="1132872" y="8947785"/>
            <a:ext cx="3628906" cy="349250"/>
          </a:xfrm>
          <a:prstGeom prst="rect">
            <a:avLst/>
          </a:prstGeom>
        </p:spPr>
        <p:txBody>
          <a:bodyPr anchor="t" rtlCol="false" tIns="0" lIns="0" bIns="0" rIns="0">
            <a:spAutoFit/>
          </a:bodyPr>
          <a:lstStyle/>
          <a:p>
            <a:pPr algn="ctr">
              <a:lnSpc>
                <a:spcPts val="2800"/>
              </a:lnSpc>
            </a:pPr>
            <a:r>
              <a:rPr lang="en-US" sz="2000" i="true">
                <a:solidFill>
                  <a:srgbClr val="000000"/>
                </a:solidFill>
                <a:latin typeface="Canva Sans Italics"/>
                <a:ea typeface="Canva Sans Italics"/>
                <a:cs typeface="Canva Sans Italics"/>
                <a:sym typeface="Canva Sans Italics"/>
              </a:rPr>
              <a:t>System Architecture Diagram</a:t>
            </a:r>
          </a:p>
        </p:txBody>
      </p:sp>
      <p:grpSp>
        <p:nvGrpSpPr>
          <p:cNvPr name="Group 6" id="6"/>
          <p:cNvGrpSpPr/>
          <p:nvPr/>
        </p:nvGrpSpPr>
        <p:grpSpPr>
          <a:xfrm rot="0">
            <a:off x="744871" y="1081970"/>
            <a:ext cx="4434565" cy="918149"/>
            <a:chOff x="0" y="0"/>
            <a:chExt cx="1332646" cy="275916"/>
          </a:xfrm>
        </p:grpSpPr>
        <p:sp>
          <p:nvSpPr>
            <p:cNvPr name="Freeform 7" id="7"/>
            <p:cNvSpPr/>
            <p:nvPr/>
          </p:nvSpPr>
          <p:spPr>
            <a:xfrm flipH="false" flipV="false" rot="0">
              <a:off x="0" y="0"/>
              <a:ext cx="1332646" cy="275916"/>
            </a:xfrm>
            <a:custGeom>
              <a:avLst/>
              <a:gdLst/>
              <a:ahLst/>
              <a:cxnLst/>
              <a:rect r="r" b="b" t="t" l="l"/>
              <a:pathLst>
                <a:path h="275916" w="1332646">
                  <a:moveTo>
                    <a:pt x="89036" y="0"/>
                  </a:moveTo>
                  <a:lnTo>
                    <a:pt x="1243609" y="0"/>
                  </a:lnTo>
                  <a:cubicBezTo>
                    <a:pt x="1292783" y="0"/>
                    <a:pt x="1332646" y="39863"/>
                    <a:pt x="1332646" y="89036"/>
                  </a:cubicBezTo>
                  <a:lnTo>
                    <a:pt x="1332646" y="186880"/>
                  </a:lnTo>
                  <a:cubicBezTo>
                    <a:pt x="1332646" y="236053"/>
                    <a:pt x="1292783" y="275916"/>
                    <a:pt x="1243609" y="275916"/>
                  </a:cubicBezTo>
                  <a:lnTo>
                    <a:pt x="89036" y="275916"/>
                  </a:lnTo>
                  <a:cubicBezTo>
                    <a:pt x="39863" y="275916"/>
                    <a:pt x="0" y="236053"/>
                    <a:pt x="0" y="186880"/>
                  </a:cubicBezTo>
                  <a:lnTo>
                    <a:pt x="0" y="89036"/>
                  </a:lnTo>
                  <a:cubicBezTo>
                    <a:pt x="0" y="39863"/>
                    <a:pt x="39863" y="0"/>
                    <a:pt x="89036" y="0"/>
                  </a:cubicBezTo>
                  <a:close/>
                </a:path>
              </a:pathLst>
            </a:custGeom>
            <a:solidFill>
              <a:srgbClr val="0097B2"/>
            </a:solidFill>
            <a:ln w="38100" cap="rnd">
              <a:gradFill>
                <a:gsLst>
                  <a:gs pos="0">
                    <a:srgbClr val="000000">
                      <a:alpha val="100000"/>
                    </a:srgbClr>
                  </a:gs>
                  <a:gs pos="100000">
                    <a:srgbClr val="1D0A4B">
                      <a:alpha val="100000"/>
                    </a:srgbClr>
                  </a:gs>
                </a:gsLst>
                <a:lin ang="5400000"/>
              </a:gradFill>
              <a:prstDash val="solid"/>
              <a:round/>
            </a:ln>
          </p:spPr>
        </p:sp>
        <p:sp>
          <p:nvSpPr>
            <p:cNvPr name="TextBox 8" id="8"/>
            <p:cNvSpPr txBox="true"/>
            <p:nvPr/>
          </p:nvSpPr>
          <p:spPr>
            <a:xfrm>
              <a:off x="0" y="-38100"/>
              <a:ext cx="1332646" cy="314016"/>
            </a:xfrm>
            <a:prstGeom prst="rect">
              <a:avLst/>
            </a:prstGeom>
          </p:spPr>
          <p:txBody>
            <a:bodyPr anchor="ctr" rtlCol="false" tIns="50800" lIns="50800" bIns="50800" rIns="50800"/>
            <a:lstStyle/>
            <a:p>
              <a:pPr algn="ctr">
                <a:lnSpc>
                  <a:spcPts val="2800"/>
                </a:lnSpc>
              </a:pPr>
              <a:r>
                <a:rPr lang="en-US" b="true" sz="2000">
                  <a:solidFill>
                    <a:srgbClr val="FFFFFF"/>
                  </a:solidFill>
                  <a:latin typeface="Red Hat Display Bold"/>
                  <a:ea typeface="Red Hat Display Bold"/>
                  <a:cs typeface="Red Hat Display Bold"/>
                  <a:sym typeface="Red Hat Display Bold"/>
                </a:rPr>
                <a:t>ULTRASONIC SENSO</a:t>
              </a:r>
            </a:p>
          </p:txBody>
        </p:sp>
      </p:grpSp>
      <p:grpSp>
        <p:nvGrpSpPr>
          <p:cNvPr name="Group 9" id="9"/>
          <p:cNvGrpSpPr/>
          <p:nvPr/>
        </p:nvGrpSpPr>
        <p:grpSpPr>
          <a:xfrm rot="0">
            <a:off x="744871" y="2219083"/>
            <a:ext cx="4434565" cy="918149"/>
            <a:chOff x="0" y="0"/>
            <a:chExt cx="1332646" cy="275916"/>
          </a:xfrm>
        </p:grpSpPr>
        <p:sp>
          <p:nvSpPr>
            <p:cNvPr name="Freeform 10" id="10"/>
            <p:cNvSpPr/>
            <p:nvPr/>
          </p:nvSpPr>
          <p:spPr>
            <a:xfrm flipH="false" flipV="false" rot="0">
              <a:off x="0" y="0"/>
              <a:ext cx="1332646" cy="275916"/>
            </a:xfrm>
            <a:custGeom>
              <a:avLst/>
              <a:gdLst/>
              <a:ahLst/>
              <a:cxnLst/>
              <a:rect r="r" b="b" t="t" l="l"/>
              <a:pathLst>
                <a:path h="275916" w="1332646">
                  <a:moveTo>
                    <a:pt x="89036" y="0"/>
                  </a:moveTo>
                  <a:lnTo>
                    <a:pt x="1243609" y="0"/>
                  </a:lnTo>
                  <a:cubicBezTo>
                    <a:pt x="1292783" y="0"/>
                    <a:pt x="1332646" y="39863"/>
                    <a:pt x="1332646" y="89036"/>
                  </a:cubicBezTo>
                  <a:lnTo>
                    <a:pt x="1332646" y="186880"/>
                  </a:lnTo>
                  <a:cubicBezTo>
                    <a:pt x="1332646" y="236053"/>
                    <a:pt x="1292783" y="275916"/>
                    <a:pt x="1243609" y="275916"/>
                  </a:cubicBezTo>
                  <a:lnTo>
                    <a:pt x="89036" y="275916"/>
                  </a:lnTo>
                  <a:cubicBezTo>
                    <a:pt x="39863" y="275916"/>
                    <a:pt x="0" y="236053"/>
                    <a:pt x="0" y="186880"/>
                  </a:cubicBezTo>
                  <a:lnTo>
                    <a:pt x="0" y="89036"/>
                  </a:lnTo>
                  <a:cubicBezTo>
                    <a:pt x="0" y="39863"/>
                    <a:pt x="39863" y="0"/>
                    <a:pt x="89036" y="0"/>
                  </a:cubicBezTo>
                  <a:close/>
                </a:path>
              </a:pathLst>
            </a:custGeom>
            <a:solidFill>
              <a:srgbClr val="0097B2"/>
            </a:solidFill>
            <a:ln w="38100" cap="rnd">
              <a:gradFill>
                <a:gsLst>
                  <a:gs pos="0">
                    <a:srgbClr val="000000">
                      <a:alpha val="100000"/>
                    </a:srgbClr>
                  </a:gs>
                  <a:gs pos="100000">
                    <a:srgbClr val="1D0A4B">
                      <a:alpha val="100000"/>
                    </a:srgbClr>
                  </a:gs>
                </a:gsLst>
                <a:lin ang="5400000"/>
              </a:gradFill>
              <a:prstDash val="solid"/>
              <a:round/>
            </a:ln>
          </p:spPr>
        </p:sp>
        <p:sp>
          <p:nvSpPr>
            <p:cNvPr name="TextBox 11" id="11"/>
            <p:cNvSpPr txBox="true"/>
            <p:nvPr/>
          </p:nvSpPr>
          <p:spPr>
            <a:xfrm>
              <a:off x="0" y="-38100"/>
              <a:ext cx="1332646" cy="314016"/>
            </a:xfrm>
            <a:prstGeom prst="rect">
              <a:avLst/>
            </a:prstGeom>
          </p:spPr>
          <p:txBody>
            <a:bodyPr anchor="ctr" rtlCol="false" tIns="50800" lIns="50800" bIns="50800" rIns="50800"/>
            <a:lstStyle/>
            <a:p>
              <a:pPr algn="ctr">
                <a:lnSpc>
                  <a:spcPts val="2800"/>
                </a:lnSpc>
              </a:pPr>
              <a:r>
                <a:rPr lang="en-US" b="true" sz="2000">
                  <a:solidFill>
                    <a:srgbClr val="FFFFFF"/>
                  </a:solidFill>
                  <a:latin typeface="Red Hat Display Bold"/>
                  <a:ea typeface="Red Hat Display Bold"/>
                  <a:cs typeface="Red Hat Display Bold"/>
                  <a:sym typeface="Red Hat Display Bold"/>
                </a:rPr>
                <a:t> ESP32 MICROCONTROLLER</a:t>
              </a:r>
            </a:p>
          </p:txBody>
        </p:sp>
      </p:grpSp>
      <p:grpSp>
        <p:nvGrpSpPr>
          <p:cNvPr name="Group 12" id="12"/>
          <p:cNvGrpSpPr/>
          <p:nvPr/>
        </p:nvGrpSpPr>
        <p:grpSpPr>
          <a:xfrm rot="0">
            <a:off x="744871" y="3375356"/>
            <a:ext cx="4434565" cy="918149"/>
            <a:chOff x="0" y="0"/>
            <a:chExt cx="1332646" cy="275916"/>
          </a:xfrm>
        </p:grpSpPr>
        <p:sp>
          <p:nvSpPr>
            <p:cNvPr name="Freeform 13" id="13"/>
            <p:cNvSpPr/>
            <p:nvPr/>
          </p:nvSpPr>
          <p:spPr>
            <a:xfrm flipH="false" flipV="false" rot="0">
              <a:off x="0" y="0"/>
              <a:ext cx="1332646" cy="275916"/>
            </a:xfrm>
            <a:custGeom>
              <a:avLst/>
              <a:gdLst/>
              <a:ahLst/>
              <a:cxnLst/>
              <a:rect r="r" b="b" t="t" l="l"/>
              <a:pathLst>
                <a:path h="275916" w="1332646">
                  <a:moveTo>
                    <a:pt x="89036" y="0"/>
                  </a:moveTo>
                  <a:lnTo>
                    <a:pt x="1243609" y="0"/>
                  </a:lnTo>
                  <a:cubicBezTo>
                    <a:pt x="1292783" y="0"/>
                    <a:pt x="1332646" y="39863"/>
                    <a:pt x="1332646" y="89036"/>
                  </a:cubicBezTo>
                  <a:lnTo>
                    <a:pt x="1332646" y="186880"/>
                  </a:lnTo>
                  <a:cubicBezTo>
                    <a:pt x="1332646" y="236053"/>
                    <a:pt x="1292783" y="275916"/>
                    <a:pt x="1243609" y="275916"/>
                  </a:cubicBezTo>
                  <a:lnTo>
                    <a:pt x="89036" y="275916"/>
                  </a:lnTo>
                  <a:cubicBezTo>
                    <a:pt x="39863" y="275916"/>
                    <a:pt x="0" y="236053"/>
                    <a:pt x="0" y="186880"/>
                  </a:cubicBezTo>
                  <a:lnTo>
                    <a:pt x="0" y="89036"/>
                  </a:lnTo>
                  <a:cubicBezTo>
                    <a:pt x="0" y="39863"/>
                    <a:pt x="39863" y="0"/>
                    <a:pt x="89036" y="0"/>
                  </a:cubicBezTo>
                  <a:close/>
                </a:path>
              </a:pathLst>
            </a:custGeom>
            <a:solidFill>
              <a:srgbClr val="0097B2"/>
            </a:solidFill>
            <a:ln w="38100" cap="rnd">
              <a:gradFill>
                <a:gsLst>
                  <a:gs pos="0">
                    <a:srgbClr val="000000">
                      <a:alpha val="100000"/>
                    </a:srgbClr>
                  </a:gs>
                  <a:gs pos="100000">
                    <a:srgbClr val="1D0A4B">
                      <a:alpha val="100000"/>
                    </a:srgbClr>
                  </a:gs>
                </a:gsLst>
                <a:lin ang="5400000"/>
              </a:gradFill>
              <a:prstDash val="solid"/>
              <a:round/>
            </a:ln>
          </p:spPr>
        </p:sp>
        <p:sp>
          <p:nvSpPr>
            <p:cNvPr name="TextBox 14" id="14"/>
            <p:cNvSpPr txBox="true"/>
            <p:nvPr/>
          </p:nvSpPr>
          <p:spPr>
            <a:xfrm>
              <a:off x="0" y="-38100"/>
              <a:ext cx="1332646" cy="314016"/>
            </a:xfrm>
            <a:prstGeom prst="rect">
              <a:avLst/>
            </a:prstGeom>
          </p:spPr>
          <p:txBody>
            <a:bodyPr anchor="ctr" rtlCol="false" tIns="50800" lIns="50800" bIns="50800" rIns="50800"/>
            <a:lstStyle/>
            <a:p>
              <a:pPr algn="ctr">
                <a:lnSpc>
                  <a:spcPts val="2800"/>
                </a:lnSpc>
              </a:pPr>
              <a:r>
                <a:rPr lang="en-US" b="true" sz="2000">
                  <a:solidFill>
                    <a:srgbClr val="FFFFFF"/>
                  </a:solidFill>
                  <a:latin typeface="Red Hat Display Bold"/>
                  <a:ea typeface="Red Hat Display Bold"/>
                  <a:cs typeface="Red Hat Display Bold"/>
                  <a:sym typeface="Red Hat Display Bold"/>
                </a:rPr>
                <a:t>DECISION LOGIC</a:t>
              </a:r>
            </a:p>
            <a:p>
              <a:pPr algn="ctr">
                <a:lnSpc>
                  <a:spcPts val="2800"/>
                </a:lnSpc>
              </a:pPr>
              <a:r>
                <a:rPr lang="en-US" b="true" sz="2000">
                  <a:solidFill>
                    <a:srgbClr val="FFFFFF"/>
                  </a:solidFill>
                  <a:latin typeface="Red Hat Display Bold"/>
                  <a:ea typeface="Red Hat Display Bold"/>
                  <a:cs typeface="Red Hat Display Bold"/>
                  <a:sym typeface="Red Hat Display Bold"/>
                </a:rPr>
                <a:t>FORWARD / STOP / WARNING</a:t>
              </a:r>
            </a:p>
          </p:txBody>
        </p:sp>
      </p:grpSp>
      <p:grpSp>
        <p:nvGrpSpPr>
          <p:cNvPr name="Group 15" id="15"/>
          <p:cNvGrpSpPr/>
          <p:nvPr/>
        </p:nvGrpSpPr>
        <p:grpSpPr>
          <a:xfrm rot="0">
            <a:off x="744871" y="4568338"/>
            <a:ext cx="4434565" cy="918149"/>
            <a:chOff x="0" y="0"/>
            <a:chExt cx="1332646" cy="275916"/>
          </a:xfrm>
        </p:grpSpPr>
        <p:sp>
          <p:nvSpPr>
            <p:cNvPr name="Freeform 16" id="16"/>
            <p:cNvSpPr/>
            <p:nvPr/>
          </p:nvSpPr>
          <p:spPr>
            <a:xfrm flipH="false" flipV="false" rot="0">
              <a:off x="0" y="0"/>
              <a:ext cx="1332646" cy="275916"/>
            </a:xfrm>
            <a:custGeom>
              <a:avLst/>
              <a:gdLst/>
              <a:ahLst/>
              <a:cxnLst/>
              <a:rect r="r" b="b" t="t" l="l"/>
              <a:pathLst>
                <a:path h="275916" w="1332646">
                  <a:moveTo>
                    <a:pt x="89036" y="0"/>
                  </a:moveTo>
                  <a:lnTo>
                    <a:pt x="1243609" y="0"/>
                  </a:lnTo>
                  <a:cubicBezTo>
                    <a:pt x="1292783" y="0"/>
                    <a:pt x="1332646" y="39863"/>
                    <a:pt x="1332646" y="89036"/>
                  </a:cubicBezTo>
                  <a:lnTo>
                    <a:pt x="1332646" y="186880"/>
                  </a:lnTo>
                  <a:cubicBezTo>
                    <a:pt x="1332646" y="236053"/>
                    <a:pt x="1292783" y="275916"/>
                    <a:pt x="1243609" y="275916"/>
                  </a:cubicBezTo>
                  <a:lnTo>
                    <a:pt x="89036" y="275916"/>
                  </a:lnTo>
                  <a:cubicBezTo>
                    <a:pt x="39863" y="275916"/>
                    <a:pt x="0" y="236053"/>
                    <a:pt x="0" y="186880"/>
                  </a:cubicBezTo>
                  <a:lnTo>
                    <a:pt x="0" y="89036"/>
                  </a:lnTo>
                  <a:cubicBezTo>
                    <a:pt x="0" y="39863"/>
                    <a:pt x="39863" y="0"/>
                    <a:pt x="89036" y="0"/>
                  </a:cubicBezTo>
                  <a:close/>
                </a:path>
              </a:pathLst>
            </a:custGeom>
            <a:solidFill>
              <a:srgbClr val="0097B2"/>
            </a:solidFill>
            <a:ln w="38100" cap="rnd">
              <a:gradFill>
                <a:gsLst>
                  <a:gs pos="0">
                    <a:srgbClr val="000000">
                      <a:alpha val="100000"/>
                    </a:srgbClr>
                  </a:gs>
                  <a:gs pos="100000">
                    <a:srgbClr val="1D0A4B">
                      <a:alpha val="100000"/>
                    </a:srgbClr>
                  </a:gs>
                </a:gsLst>
                <a:lin ang="5400000"/>
              </a:gradFill>
              <a:prstDash val="solid"/>
              <a:round/>
            </a:ln>
          </p:spPr>
        </p:sp>
        <p:sp>
          <p:nvSpPr>
            <p:cNvPr name="TextBox 17" id="17"/>
            <p:cNvSpPr txBox="true"/>
            <p:nvPr/>
          </p:nvSpPr>
          <p:spPr>
            <a:xfrm>
              <a:off x="0" y="-38100"/>
              <a:ext cx="1332646" cy="314016"/>
            </a:xfrm>
            <a:prstGeom prst="rect">
              <a:avLst/>
            </a:prstGeom>
          </p:spPr>
          <p:txBody>
            <a:bodyPr anchor="ctr" rtlCol="false" tIns="50800" lIns="50800" bIns="50800" rIns="50800"/>
            <a:lstStyle/>
            <a:p>
              <a:pPr algn="ctr">
                <a:lnSpc>
                  <a:spcPts val="2800"/>
                </a:lnSpc>
              </a:pPr>
              <a:r>
                <a:rPr lang="en-US" b="true" sz="2000">
                  <a:solidFill>
                    <a:srgbClr val="FFFFFF"/>
                  </a:solidFill>
                  <a:latin typeface="Red Hat Display Bold"/>
                  <a:ea typeface="Red Hat Display Bold"/>
                  <a:cs typeface="Red Hat Display Bold"/>
                  <a:sym typeface="Red Hat Display Bold"/>
                </a:rPr>
                <a:t>LED INDICATORS</a:t>
              </a:r>
            </a:p>
          </p:txBody>
        </p:sp>
      </p:grpSp>
      <p:grpSp>
        <p:nvGrpSpPr>
          <p:cNvPr name="Group 18" id="18"/>
          <p:cNvGrpSpPr/>
          <p:nvPr/>
        </p:nvGrpSpPr>
        <p:grpSpPr>
          <a:xfrm rot="0">
            <a:off x="744871" y="5743662"/>
            <a:ext cx="4434565" cy="918149"/>
            <a:chOff x="0" y="0"/>
            <a:chExt cx="1332646" cy="275916"/>
          </a:xfrm>
        </p:grpSpPr>
        <p:sp>
          <p:nvSpPr>
            <p:cNvPr name="Freeform 19" id="19"/>
            <p:cNvSpPr/>
            <p:nvPr/>
          </p:nvSpPr>
          <p:spPr>
            <a:xfrm flipH="false" flipV="false" rot="0">
              <a:off x="0" y="0"/>
              <a:ext cx="1332646" cy="275916"/>
            </a:xfrm>
            <a:custGeom>
              <a:avLst/>
              <a:gdLst/>
              <a:ahLst/>
              <a:cxnLst/>
              <a:rect r="r" b="b" t="t" l="l"/>
              <a:pathLst>
                <a:path h="275916" w="1332646">
                  <a:moveTo>
                    <a:pt x="89036" y="0"/>
                  </a:moveTo>
                  <a:lnTo>
                    <a:pt x="1243609" y="0"/>
                  </a:lnTo>
                  <a:cubicBezTo>
                    <a:pt x="1292783" y="0"/>
                    <a:pt x="1332646" y="39863"/>
                    <a:pt x="1332646" y="89036"/>
                  </a:cubicBezTo>
                  <a:lnTo>
                    <a:pt x="1332646" y="186880"/>
                  </a:lnTo>
                  <a:cubicBezTo>
                    <a:pt x="1332646" y="236053"/>
                    <a:pt x="1292783" y="275916"/>
                    <a:pt x="1243609" y="275916"/>
                  </a:cubicBezTo>
                  <a:lnTo>
                    <a:pt x="89036" y="275916"/>
                  </a:lnTo>
                  <a:cubicBezTo>
                    <a:pt x="39863" y="275916"/>
                    <a:pt x="0" y="236053"/>
                    <a:pt x="0" y="186880"/>
                  </a:cubicBezTo>
                  <a:lnTo>
                    <a:pt x="0" y="89036"/>
                  </a:lnTo>
                  <a:cubicBezTo>
                    <a:pt x="0" y="39863"/>
                    <a:pt x="39863" y="0"/>
                    <a:pt x="89036" y="0"/>
                  </a:cubicBezTo>
                  <a:close/>
                </a:path>
              </a:pathLst>
            </a:custGeom>
            <a:solidFill>
              <a:srgbClr val="0097B2"/>
            </a:solidFill>
            <a:ln w="38100" cap="rnd">
              <a:gradFill>
                <a:gsLst>
                  <a:gs pos="0">
                    <a:srgbClr val="000000">
                      <a:alpha val="100000"/>
                    </a:srgbClr>
                  </a:gs>
                  <a:gs pos="100000">
                    <a:srgbClr val="1D0A4B">
                      <a:alpha val="100000"/>
                    </a:srgbClr>
                  </a:gs>
                </a:gsLst>
                <a:lin ang="5400000"/>
              </a:gradFill>
              <a:prstDash val="solid"/>
              <a:round/>
            </a:ln>
          </p:spPr>
        </p:sp>
        <p:sp>
          <p:nvSpPr>
            <p:cNvPr name="TextBox 20" id="20"/>
            <p:cNvSpPr txBox="true"/>
            <p:nvPr/>
          </p:nvSpPr>
          <p:spPr>
            <a:xfrm>
              <a:off x="0" y="-38100"/>
              <a:ext cx="1332646" cy="314016"/>
            </a:xfrm>
            <a:prstGeom prst="rect">
              <a:avLst/>
            </a:prstGeom>
          </p:spPr>
          <p:txBody>
            <a:bodyPr anchor="ctr" rtlCol="false" tIns="50800" lIns="50800" bIns="50800" rIns="50800"/>
            <a:lstStyle/>
            <a:p>
              <a:pPr algn="ctr">
                <a:lnSpc>
                  <a:spcPts val="2800"/>
                </a:lnSpc>
              </a:pPr>
              <a:r>
                <a:rPr lang="en-US" b="true" sz="2000">
                  <a:solidFill>
                    <a:srgbClr val="FFFFFF"/>
                  </a:solidFill>
                  <a:latin typeface="Red Hat Display Bold"/>
                  <a:ea typeface="Red Hat Display Bold"/>
                  <a:cs typeface="Red Hat Display Bold"/>
                  <a:sym typeface="Red Hat Display Bold"/>
                </a:rPr>
                <a:t>WI-FI COMMUNICATION</a:t>
              </a:r>
            </a:p>
          </p:txBody>
        </p:sp>
      </p:grpSp>
      <p:grpSp>
        <p:nvGrpSpPr>
          <p:cNvPr name="Group 21" id="21"/>
          <p:cNvGrpSpPr/>
          <p:nvPr/>
        </p:nvGrpSpPr>
        <p:grpSpPr>
          <a:xfrm rot="0">
            <a:off x="744871" y="6880886"/>
            <a:ext cx="4434565" cy="918149"/>
            <a:chOff x="0" y="0"/>
            <a:chExt cx="1332646" cy="275916"/>
          </a:xfrm>
        </p:grpSpPr>
        <p:sp>
          <p:nvSpPr>
            <p:cNvPr name="Freeform 22" id="22"/>
            <p:cNvSpPr/>
            <p:nvPr/>
          </p:nvSpPr>
          <p:spPr>
            <a:xfrm flipH="false" flipV="false" rot="0">
              <a:off x="0" y="0"/>
              <a:ext cx="1332646" cy="275916"/>
            </a:xfrm>
            <a:custGeom>
              <a:avLst/>
              <a:gdLst/>
              <a:ahLst/>
              <a:cxnLst/>
              <a:rect r="r" b="b" t="t" l="l"/>
              <a:pathLst>
                <a:path h="275916" w="1332646">
                  <a:moveTo>
                    <a:pt x="89036" y="0"/>
                  </a:moveTo>
                  <a:lnTo>
                    <a:pt x="1243609" y="0"/>
                  </a:lnTo>
                  <a:cubicBezTo>
                    <a:pt x="1292783" y="0"/>
                    <a:pt x="1332646" y="39863"/>
                    <a:pt x="1332646" y="89036"/>
                  </a:cubicBezTo>
                  <a:lnTo>
                    <a:pt x="1332646" y="186880"/>
                  </a:lnTo>
                  <a:cubicBezTo>
                    <a:pt x="1332646" y="236053"/>
                    <a:pt x="1292783" y="275916"/>
                    <a:pt x="1243609" y="275916"/>
                  </a:cubicBezTo>
                  <a:lnTo>
                    <a:pt x="89036" y="275916"/>
                  </a:lnTo>
                  <a:cubicBezTo>
                    <a:pt x="39863" y="275916"/>
                    <a:pt x="0" y="236053"/>
                    <a:pt x="0" y="186880"/>
                  </a:cubicBezTo>
                  <a:lnTo>
                    <a:pt x="0" y="89036"/>
                  </a:lnTo>
                  <a:cubicBezTo>
                    <a:pt x="0" y="39863"/>
                    <a:pt x="39863" y="0"/>
                    <a:pt x="89036" y="0"/>
                  </a:cubicBezTo>
                  <a:close/>
                </a:path>
              </a:pathLst>
            </a:custGeom>
            <a:solidFill>
              <a:srgbClr val="0097B2"/>
            </a:solidFill>
            <a:ln w="38100" cap="rnd">
              <a:gradFill>
                <a:gsLst>
                  <a:gs pos="0">
                    <a:srgbClr val="000000">
                      <a:alpha val="100000"/>
                    </a:srgbClr>
                  </a:gs>
                  <a:gs pos="100000">
                    <a:srgbClr val="1D0A4B">
                      <a:alpha val="100000"/>
                    </a:srgbClr>
                  </a:gs>
                </a:gsLst>
                <a:lin ang="5400000"/>
              </a:gradFill>
              <a:prstDash val="solid"/>
              <a:round/>
            </a:ln>
          </p:spPr>
        </p:sp>
        <p:sp>
          <p:nvSpPr>
            <p:cNvPr name="TextBox 23" id="23"/>
            <p:cNvSpPr txBox="true"/>
            <p:nvPr/>
          </p:nvSpPr>
          <p:spPr>
            <a:xfrm>
              <a:off x="0" y="-38100"/>
              <a:ext cx="1332646" cy="314016"/>
            </a:xfrm>
            <a:prstGeom prst="rect">
              <a:avLst/>
            </a:prstGeom>
          </p:spPr>
          <p:txBody>
            <a:bodyPr anchor="ctr" rtlCol="false" tIns="50800" lIns="50800" bIns="50800" rIns="50800"/>
            <a:lstStyle/>
            <a:p>
              <a:pPr algn="ctr">
                <a:lnSpc>
                  <a:spcPts val="2800"/>
                </a:lnSpc>
              </a:pPr>
              <a:r>
                <a:rPr lang="en-US" b="true" sz="2000">
                  <a:solidFill>
                    <a:srgbClr val="FFFFFF"/>
                  </a:solidFill>
                  <a:latin typeface="Red Hat Display Bold"/>
                  <a:ea typeface="Red Hat Display Bold"/>
                  <a:cs typeface="Red Hat Display Bold"/>
                  <a:sym typeface="Red Hat Display Bold"/>
                </a:rPr>
                <a:t>THINGSPEAK CLOUD</a:t>
              </a:r>
            </a:p>
          </p:txBody>
        </p:sp>
      </p:grpSp>
      <p:grpSp>
        <p:nvGrpSpPr>
          <p:cNvPr name="Group 24" id="24"/>
          <p:cNvGrpSpPr/>
          <p:nvPr/>
        </p:nvGrpSpPr>
        <p:grpSpPr>
          <a:xfrm rot="0">
            <a:off x="744871" y="8020111"/>
            <a:ext cx="4434565" cy="918149"/>
            <a:chOff x="0" y="0"/>
            <a:chExt cx="1332646" cy="275916"/>
          </a:xfrm>
        </p:grpSpPr>
        <p:sp>
          <p:nvSpPr>
            <p:cNvPr name="Freeform 25" id="25"/>
            <p:cNvSpPr/>
            <p:nvPr/>
          </p:nvSpPr>
          <p:spPr>
            <a:xfrm flipH="false" flipV="false" rot="0">
              <a:off x="0" y="0"/>
              <a:ext cx="1332646" cy="275916"/>
            </a:xfrm>
            <a:custGeom>
              <a:avLst/>
              <a:gdLst/>
              <a:ahLst/>
              <a:cxnLst/>
              <a:rect r="r" b="b" t="t" l="l"/>
              <a:pathLst>
                <a:path h="275916" w="1332646">
                  <a:moveTo>
                    <a:pt x="89036" y="0"/>
                  </a:moveTo>
                  <a:lnTo>
                    <a:pt x="1243609" y="0"/>
                  </a:lnTo>
                  <a:cubicBezTo>
                    <a:pt x="1292783" y="0"/>
                    <a:pt x="1332646" y="39863"/>
                    <a:pt x="1332646" y="89036"/>
                  </a:cubicBezTo>
                  <a:lnTo>
                    <a:pt x="1332646" y="186880"/>
                  </a:lnTo>
                  <a:cubicBezTo>
                    <a:pt x="1332646" y="236053"/>
                    <a:pt x="1292783" y="275916"/>
                    <a:pt x="1243609" y="275916"/>
                  </a:cubicBezTo>
                  <a:lnTo>
                    <a:pt x="89036" y="275916"/>
                  </a:lnTo>
                  <a:cubicBezTo>
                    <a:pt x="39863" y="275916"/>
                    <a:pt x="0" y="236053"/>
                    <a:pt x="0" y="186880"/>
                  </a:cubicBezTo>
                  <a:lnTo>
                    <a:pt x="0" y="89036"/>
                  </a:lnTo>
                  <a:cubicBezTo>
                    <a:pt x="0" y="39863"/>
                    <a:pt x="39863" y="0"/>
                    <a:pt x="89036" y="0"/>
                  </a:cubicBezTo>
                  <a:close/>
                </a:path>
              </a:pathLst>
            </a:custGeom>
            <a:solidFill>
              <a:srgbClr val="0097B2"/>
            </a:solidFill>
            <a:ln w="38100" cap="rnd">
              <a:gradFill>
                <a:gsLst>
                  <a:gs pos="0">
                    <a:srgbClr val="000000">
                      <a:alpha val="100000"/>
                    </a:srgbClr>
                  </a:gs>
                  <a:gs pos="100000">
                    <a:srgbClr val="1D0A4B">
                      <a:alpha val="100000"/>
                    </a:srgbClr>
                  </a:gs>
                </a:gsLst>
                <a:lin ang="5400000"/>
              </a:gradFill>
              <a:prstDash val="solid"/>
              <a:round/>
            </a:ln>
          </p:spPr>
        </p:sp>
        <p:sp>
          <p:nvSpPr>
            <p:cNvPr name="TextBox 26" id="26"/>
            <p:cNvSpPr txBox="true"/>
            <p:nvPr/>
          </p:nvSpPr>
          <p:spPr>
            <a:xfrm>
              <a:off x="0" y="-38100"/>
              <a:ext cx="1332646" cy="314016"/>
            </a:xfrm>
            <a:prstGeom prst="rect">
              <a:avLst/>
            </a:prstGeom>
          </p:spPr>
          <p:txBody>
            <a:bodyPr anchor="ctr" rtlCol="false" tIns="50800" lIns="50800" bIns="50800" rIns="50800"/>
            <a:lstStyle/>
            <a:p>
              <a:pPr algn="ctr">
                <a:lnSpc>
                  <a:spcPts val="2800"/>
                </a:lnSpc>
              </a:pPr>
              <a:r>
                <a:rPr lang="en-US" b="true" sz="2000">
                  <a:solidFill>
                    <a:srgbClr val="FFFFFF"/>
                  </a:solidFill>
                  <a:latin typeface="Red Hat Display Bold"/>
                  <a:ea typeface="Red Hat Display Bold"/>
                  <a:cs typeface="Red Hat Display Bold"/>
                  <a:sym typeface="Red Hat Display Bold"/>
                </a:rPr>
                <a:t>USER DASHBOARD</a:t>
              </a:r>
            </a:p>
          </p:txBody>
        </p:sp>
      </p:grpSp>
      <p:sp>
        <p:nvSpPr>
          <p:cNvPr name="TextBox 27" id="27"/>
          <p:cNvSpPr txBox="true"/>
          <p:nvPr/>
        </p:nvSpPr>
        <p:spPr>
          <a:xfrm rot="0">
            <a:off x="5452867" y="1315318"/>
            <a:ext cx="5235893" cy="580390"/>
          </a:xfrm>
          <a:prstGeom prst="rect">
            <a:avLst/>
          </a:prstGeom>
        </p:spPr>
        <p:txBody>
          <a:bodyPr anchor="t" rtlCol="false" tIns="0" lIns="0" bIns="0" rIns="0">
            <a:spAutoFit/>
          </a:bodyPr>
          <a:lstStyle/>
          <a:p>
            <a:pPr algn="ctr">
              <a:lnSpc>
                <a:spcPts val="4759"/>
              </a:lnSpc>
            </a:pPr>
            <a:r>
              <a:rPr lang="en-US" b="true" sz="3399">
                <a:solidFill>
                  <a:srgbClr val="000000"/>
                </a:solidFill>
                <a:latin typeface="Canva Sans Bold"/>
                <a:ea typeface="Canva Sans Bold"/>
                <a:cs typeface="Canva Sans Bold"/>
                <a:sym typeface="Canva Sans Bold"/>
              </a:rPr>
              <a:t>Architecture Description</a:t>
            </a:r>
          </a:p>
        </p:txBody>
      </p:sp>
      <p:sp>
        <p:nvSpPr>
          <p:cNvPr name="TextBox 28" id="28"/>
          <p:cNvSpPr txBox="true"/>
          <p:nvPr/>
        </p:nvSpPr>
        <p:spPr>
          <a:xfrm rot="0">
            <a:off x="5112760" y="2201375"/>
            <a:ext cx="12802459" cy="4686300"/>
          </a:xfrm>
          <a:prstGeom prst="rect">
            <a:avLst/>
          </a:prstGeom>
        </p:spPr>
        <p:txBody>
          <a:bodyPr anchor="t" rtlCol="false" tIns="0" lIns="0" bIns="0" rIns="0">
            <a:spAutoFit/>
          </a:bodyPr>
          <a:lstStyle/>
          <a:p>
            <a:pPr algn="just" marL="647697" indent="-323848" lvl="1">
              <a:lnSpc>
                <a:spcPts val="4199"/>
              </a:lnSpc>
              <a:buFont typeface="Arial"/>
              <a:buChar char="•"/>
            </a:pPr>
            <a:r>
              <a:rPr lang="en-US" sz="2999">
                <a:solidFill>
                  <a:srgbClr val="000000"/>
                </a:solidFill>
                <a:latin typeface="Canva Sans"/>
                <a:ea typeface="Canva Sans"/>
                <a:cs typeface="Canva Sans"/>
                <a:sym typeface="Canva Sans"/>
              </a:rPr>
              <a:t>The ultrasonic sensor measures the distance to nearby obstacles.</a:t>
            </a:r>
          </a:p>
          <a:p>
            <a:pPr algn="just" marL="647697" indent="-323848" lvl="1">
              <a:lnSpc>
                <a:spcPts val="4199"/>
              </a:lnSpc>
              <a:buFont typeface="Arial"/>
              <a:buChar char="•"/>
            </a:pPr>
            <a:r>
              <a:rPr lang="en-US" sz="2999">
                <a:solidFill>
                  <a:srgbClr val="000000"/>
                </a:solidFill>
                <a:latin typeface="Canva Sans"/>
                <a:ea typeface="Canva Sans"/>
                <a:cs typeface="Canva Sans"/>
                <a:sym typeface="Canva Sans"/>
              </a:rPr>
              <a:t>Sensor </a:t>
            </a:r>
            <a:r>
              <a:rPr lang="en-US" sz="2999">
                <a:solidFill>
                  <a:srgbClr val="000000"/>
                </a:solidFill>
                <a:latin typeface="Canva Sans"/>
                <a:ea typeface="Canva Sans"/>
                <a:cs typeface="Canva Sans"/>
                <a:sym typeface="Canva Sans"/>
              </a:rPr>
              <a:t>data is processed locally by the ESP32 microcontroller.</a:t>
            </a:r>
          </a:p>
          <a:p>
            <a:pPr algn="just" marL="647697" indent="-323848" lvl="1">
              <a:lnSpc>
                <a:spcPts val="4199"/>
              </a:lnSpc>
              <a:buFont typeface="Arial"/>
              <a:buChar char="•"/>
            </a:pPr>
            <a:r>
              <a:rPr lang="en-US" sz="2999">
                <a:solidFill>
                  <a:srgbClr val="000000"/>
                </a:solidFill>
                <a:latin typeface="Canva Sans"/>
                <a:ea typeface="Canva Sans"/>
                <a:cs typeface="Canva Sans"/>
                <a:sym typeface="Canva Sans"/>
              </a:rPr>
              <a:t>Based on the distance and battery level:</a:t>
            </a:r>
          </a:p>
          <a:p>
            <a:pPr algn="just" marL="1295394" indent="-431798" lvl="2">
              <a:lnSpc>
                <a:spcPts val="4199"/>
              </a:lnSpc>
              <a:buFont typeface="Arial"/>
              <a:buChar char="⚬"/>
            </a:pPr>
            <a:r>
              <a:rPr lang="en-US" sz="2999">
                <a:solidFill>
                  <a:srgbClr val="000000"/>
                </a:solidFill>
                <a:latin typeface="Canva Sans"/>
                <a:ea typeface="Canva Sans"/>
                <a:cs typeface="Canva Sans"/>
                <a:sym typeface="Canva Sans"/>
              </a:rPr>
              <a:t>The robot decides whether to move forward, stop, or enter warning mode.</a:t>
            </a:r>
          </a:p>
          <a:p>
            <a:pPr algn="just" marL="647697" indent="-323848" lvl="1">
              <a:lnSpc>
                <a:spcPts val="4199"/>
              </a:lnSpc>
              <a:buFont typeface="Arial"/>
              <a:buChar char="•"/>
            </a:pPr>
            <a:r>
              <a:rPr lang="en-US" sz="2999">
                <a:solidFill>
                  <a:srgbClr val="000000"/>
                </a:solidFill>
                <a:latin typeface="Canva Sans"/>
                <a:ea typeface="Canva Sans"/>
                <a:cs typeface="Canva Sans"/>
                <a:sym typeface="Canva Sans"/>
              </a:rPr>
              <a:t>Robot state is represented using LED indicators.</a:t>
            </a:r>
          </a:p>
          <a:p>
            <a:pPr algn="just" marL="647697" indent="-323848" lvl="1">
              <a:lnSpc>
                <a:spcPts val="4199"/>
              </a:lnSpc>
              <a:buFont typeface="Arial"/>
              <a:buChar char="•"/>
            </a:pPr>
            <a:r>
              <a:rPr lang="en-US" sz="2999">
                <a:solidFill>
                  <a:srgbClr val="000000"/>
                </a:solidFill>
                <a:latin typeface="Canva Sans"/>
                <a:ea typeface="Canva Sans"/>
                <a:cs typeface="Canva Sans"/>
                <a:sym typeface="Canva Sans"/>
              </a:rPr>
              <a:t>Selected data is transmitted via Wi-Fi to the ThingSpeak cloud.</a:t>
            </a:r>
          </a:p>
          <a:p>
            <a:pPr algn="just" marL="647697" indent="-323848" lvl="1">
              <a:lnSpc>
                <a:spcPts val="4199"/>
              </a:lnSpc>
              <a:buFont typeface="Arial"/>
              <a:buChar char="•"/>
            </a:pPr>
            <a:r>
              <a:rPr lang="en-US" sz="2999">
                <a:solidFill>
                  <a:srgbClr val="000000"/>
                </a:solidFill>
                <a:latin typeface="Canva Sans"/>
                <a:ea typeface="Canva Sans"/>
                <a:cs typeface="Canva Sans"/>
                <a:sym typeface="Canva Sans"/>
              </a:rPr>
              <a:t>Users can monitor the robot remotely through an IoT dashboard.</a:t>
            </a:r>
          </a:p>
          <a:p>
            <a:pPr algn="just">
              <a:lnSpc>
                <a:spcPts val="4199"/>
              </a:lnSpc>
            </a:pPr>
          </a:p>
        </p:txBody>
      </p:sp>
      <p:sp>
        <p:nvSpPr>
          <p:cNvPr name="AutoShape 29" id="29"/>
          <p:cNvSpPr/>
          <p:nvPr/>
        </p:nvSpPr>
        <p:spPr>
          <a:xfrm>
            <a:off x="431045" y="1248355"/>
            <a:ext cx="0" cy="7457915"/>
          </a:xfrm>
          <a:prstGeom prst="line">
            <a:avLst/>
          </a:prstGeom>
          <a:ln cap="flat" w="133350">
            <a:solidFill>
              <a:srgbClr val="0097B2"/>
            </a:solidFill>
            <a:prstDash val="solid"/>
            <a:headEnd type="none" len="sm" w="sm"/>
            <a:tailEnd type="arrow" len="sm" w="med"/>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2" r="0" b="-62"/>
            </a:stretch>
          </a:blipFill>
        </p:spPr>
      </p:sp>
      <p:sp>
        <p:nvSpPr>
          <p:cNvPr name="AutoShape 3" id="3"/>
          <p:cNvSpPr/>
          <p:nvPr/>
        </p:nvSpPr>
        <p:spPr>
          <a:xfrm>
            <a:off x="477390" y="971550"/>
            <a:ext cx="16447162" cy="0"/>
          </a:xfrm>
          <a:prstGeom prst="line">
            <a:avLst/>
          </a:prstGeom>
          <a:ln cap="flat" w="95250">
            <a:solidFill>
              <a:srgbClr val="545454"/>
            </a:solidFill>
            <a:prstDash val="solid"/>
            <a:headEnd type="none" len="sm" w="sm"/>
            <a:tailEnd type="none" len="sm" w="sm"/>
          </a:ln>
        </p:spPr>
      </p:sp>
      <p:sp>
        <p:nvSpPr>
          <p:cNvPr name="TextBox 4" id="4"/>
          <p:cNvSpPr txBox="true"/>
          <p:nvPr/>
        </p:nvSpPr>
        <p:spPr>
          <a:xfrm rot="0">
            <a:off x="-2275176" y="208280"/>
            <a:ext cx="15354895" cy="629920"/>
          </a:xfrm>
          <a:prstGeom prst="rect">
            <a:avLst/>
          </a:prstGeom>
        </p:spPr>
        <p:txBody>
          <a:bodyPr anchor="t" rtlCol="false" tIns="0" lIns="0" bIns="0" rIns="0">
            <a:spAutoFit/>
          </a:bodyPr>
          <a:lstStyle/>
          <a:p>
            <a:pPr algn="ctr">
              <a:lnSpc>
                <a:spcPts val="5179"/>
              </a:lnSpc>
            </a:pPr>
            <a:r>
              <a:rPr lang="en-US" sz="3699" b="true">
                <a:solidFill>
                  <a:srgbClr val="000000"/>
                </a:solidFill>
                <a:latin typeface="Canva Sans Bold"/>
                <a:ea typeface="Canva Sans Bold"/>
                <a:cs typeface="Canva Sans Bold"/>
                <a:sym typeface="Canva Sans Bold"/>
              </a:rPr>
              <a:t>Hardware Comp</a:t>
            </a:r>
            <a:r>
              <a:rPr lang="en-US" b="true" sz="3699">
                <a:solidFill>
                  <a:srgbClr val="000000"/>
                </a:solidFill>
                <a:latin typeface="Canva Sans Bold"/>
                <a:ea typeface="Canva Sans Bold"/>
                <a:cs typeface="Canva Sans Bold"/>
                <a:sym typeface="Canva Sans Bold"/>
              </a:rPr>
              <a:t>onents and Justification</a:t>
            </a:r>
          </a:p>
        </p:txBody>
      </p:sp>
      <p:sp>
        <p:nvSpPr>
          <p:cNvPr name="TextBox 5" id="5"/>
          <p:cNvSpPr txBox="true"/>
          <p:nvPr/>
        </p:nvSpPr>
        <p:spPr>
          <a:xfrm rot="0">
            <a:off x="126563" y="1237933"/>
            <a:ext cx="3893939" cy="481330"/>
          </a:xfrm>
          <a:prstGeom prst="rect">
            <a:avLst/>
          </a:prstGeom>
        </p:spPr>
        <p:txBody>
          <a:bodyPr anchor="t" rtlCol="false" tIns="0" lIns="0" bIns="0" rIns="0">
            <a:spAutoFit/>
          </a:bodyPr>
          <a:lstStyle/>
          <a:p>
            <a:pPr algn="ctr">
              <a:lnSpc>
                <a:spcPts val="3919"/>
              </a:lnSpc>
            </a:pPr>
            <a:r>
              <a:rPr lang="en-US" sz="2799" b="true">
                <a:solidFill>
                  <a:srgbClr val="000000"/>
                </a:solidFill>
                <a:latin typeface="Canva Sans Bold"/>
                <a:ea typeface="Canva Sans Bold"/>
                <a:cs typeface="Canva Sans Bold"/>
                <a:sym typeface="Canva Sans Bold"/>
              </a:rPr>
              <a:t>ESP32</a:t>
            </a:r>
            <a:r>
              <a:rPr lang="en-US" b="true" sz="2799">
                <a:solidFill>
                  <a:srgbClr val="000000"/>
                </a:solidFill>
                <a:latin typeface="Canva Sans Bold"/>
                <a:ea typeface="Canva Sans Bold"/>
                <a:cs typeface="Canva Sans Bold"/>
                <a:sym typeface="Canva Sans Bold"/>
              </a:rPr>
              <a:t> Microcontroller</a:t>
            </a:r>
          </a:p>
        </p:txBody>
      </p:sp>
      <p:sp>
        <p:nvSpPr>
          <p:cNvPr name="TextBox 6" id="6"/>
          <p:cNvSpPr txBox="true"/>
          <p:nvPr/>
        </p:nvSpPr>
        <p:spPr>
          <a:xfrm rot="0">
            <a:off x="0" y="1766888"/>
            <a:ext cx="8041005" cy="207264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Canva Sans"/>
                <a:ea typeface="Canva Sans"/>
                <a:cs typeface="Canva Sans"/>
                <a:sym typeface="Canva Sans"/>
              </a:rPr>
              <a:t>Acts as the main controller of the robot</a:t>
            </a:r>
          </a:p>
          <a:p>
            <a:pPr algn="just" marL="518160" indent="-259080" lvl="1">
              <a:lnSpc>
                <a:spcPts val="3359"/>
              </a:lnSpc>
              <a:buFont typeface="Arial"/>
              <a:buChar char="•"/>
            </a:pPr>
            <a:r>
              <a:rPr lang="en-US" sz="2400">
                <a:solidFill>
                  <a:srgbClr val="000000"/>
                </a:solidFill>
                <a:latin typeface="Canva Sans"/>
                <a:ea typeface="Canva Sans"/>
                <a:cs typeface="Canva Sans"/>
                <a:sym typeface="Canva Sans"/>
              </a:rPr>
              <a:t>Processes sensor data and executes decision logic</a:t>
            </a:r>
          </a:p>
          <a:p>
            <a:pPr algn="just" marL="518160" indent="-259080" lvl="1">
              <a:lnSpc>
                <a:spcPts val="3359"/>
              </a:lnSpc>
              <a:buFont typeface="Arial"/>
              <a:buChar char="•"/>
            </a:pPr>
            <a:r>
              <a:rPr lang="en-US" sz="2400">
                <a:solidFill>
                  <a:srgbClr val="000000"/>
                </a:solidFill>
                <a:latin typeface="Canva Sans"/>
                <a:ea typeface="Canva Sans"/>
                <a:cs typeface="Canva Sans"/>
                <a:sym typeface="Canva Sans"/>
              </a:rPr>
              <a:t>Built-in Wi-Fi and Bluetooth (future expansion)</a:t>
            </a:r>
          </a:p>
          <a:p>
            <a:pPr algn="just" marL="518160" indent="-259080" lvl="1">
              <a:lnSpc>
                <a:spcPts val="3359"/>
              </a:lnSpc>
              <a:buFont typeface="Arial"/>
              <a:buChar char="•"/>
            </a:pPr>
            <a:r>
              <a:rPr lang="en-US" sz="2400">
                <a:solidFill>
                  <a:srgbClr val="000000"/>
                </a:solidFill>
                <a:latin typeface="Canva Sans"/>
                <a:ea typeface="Canva Sans"/>
                <a:cs typeface="Canva Sans"/>
                <a:sym typeface="Canva Sans"/>
              </a:rPr>
              <a:t>Low power consumption compared to older boards</a:t>
            </a:r>
          </a:p>
          <a:p>
            <a:pPr algn="just">
              <a:lnSpc>
                <a:spcPts val="3359"/>
              </a:lnSpc>
            </a:pPr>
          </a:p>
        </p:txBody>
      </p:sp>
      <p:sp>
        <p:nvSpPr>
          <p:cNvPr name="TextBox 7" id="7"/>
          <p:cNvSpPr txBox="true"/>
          <p:nvPr/>
        </p:nvSpPr>
        <p:spPr>
          <a:xfrm rot="0">
            <a:off x="9851416" y="1148398"/>
            <a:ext cx="4998601" cy="481330"/>
          </a:xfrm>
          <a:prstGeom prst="rect">
            <a:avLst/>
          </a:prstGeom>
        </p:spPr>
        <p:txBody>
          <a:bodyPr anchor="t" rtlCol="false" tIns="0" lIns="0" bIns="0" rIns="0">
            <a:spAutoFit/>
          </a:bodyPr>
          <a:lstStyle/>
          <a:p>
            <a:pPr algn="ctr">
              <a:lnSpc>
                <a:spcPts val="3919"/>
              </a:lnSpc>
            </a:pPr>
            <a:r>
              <a:rPr lang="en-US" sz="2799" b="true">
                <a:solidFill>
                  <a:srgbClr val="000000"/>
                </a:solidFill>
                <a:latin typeface="Canva Sans Bold"/>
                <a:ea typeface="Canva Sans Bold"/>
                <a:cs typeface="Canva Sans Bold"/>
                <a:sym typeface="Canva Sans Bold"/>
              </a:rPr>
              <a:t>U</a:t>
            </a:r>
            <a:r>
              <a:rPr lang="en-US" b="true" sz="2799">
                <a:solidFill>
                  <a:srgbClr val="000000"/>
                </a:solidFill>
                <a:latin typeface="Canva Sans Bold"/>
                <a:ea typeface="Canva Sans Bold"/>
                <a:cs typeface="Canva Sans Bold"/>
                <a:sym typeface="Canva Sans Bold"/>
              </a:rPr>
              <a:t>ltrasonic Sensor (HC-SR04)</a:t>
            </a:r>
          </a:p>
        </p:txBody>
      </p:sp>
      <p:sp>
        <p:nvSpPr>
          <p:cNvPr name="TextBox 8" id="8"/>
          <p:cNvSpPr txBox="true"/>
          <p:nvPr/>
        </p:nvSpPr>
        <p:spPr>
          <a:xfrm rot="0">
            <a:off x="9851416" y="1766888"/>
            <a:ext cx="8221385" cy="1234440"/>
          </a:xfrm>
          <a:prstGeom prst="rect">
            <a:avLst/>
          </a:prstGeom>
        </p:spPr>
        <p:txBody>
          <a:bodyPr anchor="t" rtlCol="false" tIns="0" lIns="0" bIns="0" rIns="0">
            <a:spAutoFit/>
          </a:bodyPr>
          <a:lstStyle/>
          <a:p>
            <a:pPr algn="ctr" marL="518160" indent="-259080" lvl="1">
              <a:lnSpc>
                <a:spcPts val="3359"/>
              </a:lnSpc>
              <a:buFont typeface="Arial"/>
              <a:buChar char="•"/>
            </a:pPr>
            <a:r>
              <a:rPr lang="en-US" sz="2400">
                <a:solidFill>
                  <a:srgbClr val="000000"/>
                </a:solidFill>
                <a:latin typeface="Canva Sans"/>
                <a:ea typeface="Canva Sans"/>
                <a:cs typeface="Canva Sans"/>
                <a:sym typeface="Canva Sans"/>
              </a:rPr>
              <a:t>Me</a:t>
            </a:r>
            <a:r>
              <a:rPr lang="en-US" sz="2400">
                <a:solidFill>
                  <a:srgbClr val="000000"/>
                </a:solidFill>
                <a:latin typeface="Canva Sans"/>
                <a:ea typeface="Canva Sans"/>
                <a:cs typeface="Canva Sans"/>
                <a:sym typeface="Canva Sans"/>
              </a:rPr>
              <a:t>asures distance to obstacles in front of the robot</a:t>
            </a:r>
          </a:p>
          <a:p>
            <a:pPr algn="ctr" marL="518160" indent="-259080" lvl="1">
              <a:lnSpc>
                <a:spcPts val="3359"/>
              </a:lnSpc>
              <a:buFont typeface="Arial"/>
              <a:buChar char="•"/>
            </a:pPr>
            <a:r>
              <a:rPr lang="en-US" sz="2400">
                <a:solidFill>
                  <a:srgbClr val="000000"/>
                </a:solidFill>
                <a:latin typeface="Canva Sans"/>
                <a:ea typeface="Canva Sans"/>
                <a:cs typeface="Canva Sans"/>
                <a:sym typeface="Canva Sans"/>
              </a:rPr>
              <a:t>Used for real-time obstacle detection and avoidance</a:t>
            </a:r>
          </a:p>
          <a:p>
            <a:pPr algn="ctr">
              <a:lnSpc>
                <a:spcPts val="3359"/>
              </a:lnSpc>
            </a:pPr>
          </a:p>
        </p:txBody>
      </p:sp>
      <p:sp>
        <p:nvSpPr>
          <p:cNvPr name="TextBox 9" id="9"/>
          <p:cNvSpPr txBox="true"/>
          <p:nvPr/>
        </p:nvSpPr>
        <p:spPr>
          <a:xfrm rot="0">
            <a:off x="126563" y="4058603"/>
            <a:ext cx="2545199" cy="481330"/>
          </a:xfrm>
          <a:prstGeom prst="rect">
            <a:avLst/>
          </a:prstGeom>
        </p:spPr>
        <p:txBody>
          <a:bodyPr anchor="t" rtlCol="false" tIns="0" lIns="0" bIns="0" rIns="0">
            <a:spAutoFit/>
          </a:bodyPr>
          <a:lstStyle/>
          <a:p>
            <a:pPr algn="ctr">
              <a:lnSpc>
                <a:spcPts val="3919"/>
              </a:lnSpc>
            </a:pPr>
            <a:r>
              <a:rPr lang="en-US" sz="2799" b="true">
                <a:solidFill>
                  <a:srgbClr val="000000"/>
                </a:solidFill>
                <a:latin typeface="Canva Sans Bold"/>
                <a:ea typeface="Canva Sans Bold"/>
                <a:cs typeface="Canva Sans Bold"/>
                <a:sym typeface="Canva Sans Bold"/>
              </a:rPr>
              <a:t>LED</a:t>
            </a:r>
            <a:r>
              <a:rPr lang="en-US" b="true" sz="2799">
                <a:solidFill>
                  <a:srgbClr val="000000"/>
                </a:solidFill>
                <a:latin typeface="Canva Sans Bold"/>
                <a:ea typeface="Canva Sans Bold"/>
                <a:cs typeface="Canva Sans Bold"/>
                <a:sym typeface="Canva Sans Bold"/>
              </a:rPr>
              <a:t> Indicators</a:t>
            </a:r>
          </a:p>
        </p:txBody>
      </p:sp>
      <p:sp>
        <p:nvSpPr>
          <p:cNvPr name="TextBox 10" id="10"/>
          <p:cNvSpPr txBox="true"/>
          <p:nvPr/>
        </p:nvSpPr>
        <p:spPr>
          <a:xfrm rot="0">
            <a:off x="126563" y="4778058"/>
            <a:ext cx="6461522" cy="16535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Green LED →</a:t>
            </a:r>
            <a:r>
              <a:rPr lang="en-US" sz="2400">
                <a:solidFill>
                  <a:srgbClr val="000000"/>
                </a:solidFill>
                <a:latin typeface="Canva Sans"/>
                <a:ea typeface="Canva Sans"/>
                <a:cs typeface="Canva Sans"/>
                <a:sym typeface="Canva Sans"/>
              </a:rPr>
              <a:t> Forward movement</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Red LED → Stop</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Yellow LED → Warning/obstacle detected</a:t>
            </a:r>
          </a:p>
          <a:p>
            <a:pPr algn="l">
              <a:lnSpc>
                <a:spcPts val="3359"/>
              </a:lnSpc>
            </a:pPr>
          </a:p>
        </p:txBody>
      </p:sp>
      <p:sp>
        <p:nvSpPr>
          <p:cNvPr name="TextBox 11" id="11"/>
          <p:cNvSpPr txBox="true"/>
          <p:nvPr/>
        </p:nvSpPr>
        <p:spPr>
          <a:xfrm rot="0">
            <a:off x="477390" y="6224841"/>
            <a:ext cx="6542682" cy="815340"/>
          </a:xfrm>
          <a:prstGeom prst="rect">
            <a:avLst/>
          </a:prstGeom>
        </p:spPr>
        <p:txBody>
          <a:bodyPr anchor="t" rtlCol="false" tIns="0" lIns="0" bIns="0" rIns="0">
            <a:spAutoFit/>
          </a:bodyPr>
          <a:lstStyle/>
          <a:p>
            <a:pPr algn="just">
              <a:lnSpc>
                <a:spcPts val="3359"/>
              </a:lnSpc>
            </a:pPr>
            <a:r>
              <a:rPr lang="en-US" sz="2400" b="true">
                <a:solidFill>
                  <a:srgbClr val="000000"/>
                </a:solidFill>
                <a:latin typeface="Canva Sans Bold"/>
                <a:ea typeface="Canva Sans Bold"/>
                <a:cs typeface="Canva Sans Bold"/>
                <a:sym typeface="Canva Sans Bold"/>
              </a:rPr>
              <a:t>Simulates motor states</a:t>
            </a:r>
            <a:r>
              <a:rPr lang="en-US" b="true" sz="2400">
                <a:solidFill>
                  <a:srgbClr val="000000"/>
                </a:solidFill>
                <a:latin typeface="Canva Sans Bold"/>
                <a:ea typeface="Canva Sans Bold"/>
                <a:cs typeface="Canva Sans Bold"/>
                <a:sym typeface="Canva Sans Bold"/>
              </a:rPr>
              <a:t> and helps visualize robot behavior during simulation.</a:t>
            </a:r>
          </a:p>
        </p:txBody>
      </p:sp>
      <p:sp>
        <p:nvSpPr>
          <p:cNvPr name="TextBox 12" id="12"/>
          <p:cNvSpPr txBox="true"/>
          <p:nvPr/>
        </p:nvSpPr>
        <p:spPr>
          <a:xfrm rot="0">
            <a:off x="9851416" y="4121150"/>
            <a:ext cx="5528906" cy="481330"/>
          </a:xfrm>
          <a:prstGeom prst="rect">
            <a:avLst/>
          </a:prstGeom>
        </p:spPr>
        <p:txBody>
          <a:bodyPr anchor="t" rtlCol="false" tIns="0" lIns="0" bIns="0" rIns="0">
            <a:spAutoFit/>
          </a:bodyPr>
          <a:lstStyle/>
          <a:p>
            <a:pPr algn="ctr">
              <a:lnSpc>
                <a:spcPts val="3919"/>
              </a:lnSpc>
            </a:pPr>
            <a:r>
              <a:rPr lang="en-US" b="true" sz="2799">
                <a:solidFill>
                  <a:srgbClr val="000000"/>
                </a:solidFill>
                <a:latin typeface="Canva Sans Bold"/>
                <a:ea typeface="Canva Sans Bold"/>
                <a:cs typeface="Canva Sans Bold"/>
                <a:sym typeface="Canva Sans Bold"/>
              </a:rPr>
              <a:t> Battery Monitoring (ADC Input)</a:t>
            </a:r>
          </a:p>
        </p:txBody>
      </p:sp>
      <p:sp>
        <p:nvSpPr>
          <p:cNvPr name="TextBox 13" id="13"/>
          <p:cNvSpPr txBox="true"/>
          <p:nvPr/>
        </p:nvSpPr>
        <p:spPr>
          <a:xfrm rot="0">
            <a:off x="10018559" y="4716780"/>
            <a:ext cx="9144000" cy="12344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Battery level is monitore</a:t>
            </a:r>
            <a:r>
              <a:rPr lang="en-US" sz="2400">
                <a:solidFill>
                  <a:srgbClr val="000000"/>
                </a:solidFill>
                <a:latin typeface="Canva Sans"/>
                <a:ea typeface="Canva Sans"/>
                <a:cs typeface="Canva Sans"/>
                <a:sym typeface="Canva Sans"/>
              </a:rPr>
              <a:t>d using an ESP32 ADC pin</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In simu</a:t>
            </a:r>
            <a:r>
              <a:rPr lang="en-US" sz="2400">
                <a:solidFill>
                  <a:srgbClr val="000000"/>
                </a:solidFill>
                <a:latin typeface="Canva Sans"/>
                <a:ea typeface="Canva Sans"/>
                <a:cs typeface="Canva Sans"/>
                <a:sym typeface="Canva Sans"/>
              </a:rPr>
              <a:t>lation, a potentiometer is used to emulate battery voltage changes</a:t>
            </a:r>
          </a:p>
        </p:txBody>
      </p:sp>
      <p:sp>
        <p:nvSpPr>
          <p:cNvPr name="TextBox 14" id="14"/>
          <p:cNvSpPr txBox="true"/>
          <p:nvPr/>
        </p:nvSpPr>
        <p:spPr>
          <a:xfrm rot="0">
            <a:off x="10685199" y="6065520"/>
            <a:ext cx="6574101" cy="815340"/>
          </a:xfrm>
          <a:prstGeom prst="rect">
            <a:avLst/>
          </a:prstGeom>
        </p:spPr>
        <p:txBody>
          <a:bodyPr anchor="t" rtlCol="false" tIns="0" lIns="0" bIns="0" rIns="0">
            <a:spAutoFit/>
          </a:bodyPr>
          <a:lstStyle/>
          <a:p>
            <a:pPr algn="ctr">
              <a:lnSpc>
                <a:spcPts val="3359"/>
              </a:lnSpc>
            </a:pPr>
            <a:r>
              <a:rPr lang="en-US" sz="2400" b="true">
                <a:solidFill>
                  <a:srgbClr val="000000"/>
                </a:solidFill>
                <a:latin typeface="Canva Sans Bold"/>
                <a:ea typeface="Canva Sans Bold"/>
                <a:cs typeface="Canva Sans Bold"/>
                <a:sym typeface="Canva Sans Bold"/>
              </a:rPr>
              <a:t>Enables power</a:t>
            </a:r>
            <a:r>
              <a:rPr lang="en-US" b="true" sz="2400">
                <a:solidFill>
                  <a:srgbClr val="000000"/>
                </a:solidFill>
                <a:latin typeface="Canva Sans Bold"/>
                <a:ea typeface="Canva Sans Bold"/>
                <a:cs typeface="Canva Sans Bold"/>
                <a:sym typeface="Canva Sans Bold"/>
              </a:rPr>
              <a:t> management and low-battery safety behavior.</a:t>
            </a:r>
          </a:p>
        </p:txBody>
      </p:sp>
      <p:sp>
        <p:nvSpPr>
          <p:cNvPr name="TextBox 15" id="15"/>
          <p:cNvSpPr txBox="true"/>
          <p:nvPr/>
        </p:nvSpPr>
        <p:spPr>
          <a:xfrm rot="0">
            <a:off x="6838589" y="7059231"/>
            <a:ext cx="2035731"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R</a:t>
            </a:r>
            <a:r>
              <a:rPr lang="en-US" b="true" sz="3399">
                <a:solidFill>
                  <a:srgbClr val="000000"/>
                </a:solidFill>
                <a:latin typeface="Canva Sans Bold"/>
                <a:ea typeface="Canva Sans Bold"/>
                <a:cs typeface="Canva Sans Bold"/>
                <a:sym typeface="Canva Sans Bold"/>
              </a:rPr>
              <a:t>esistors </a:t>
            </a:r>
          </a:p>
        </p:txBody>
      </p:sp>
      <p:sp>
        <p:nvSpPr>
          <p:cNvPr name="TextBox 16" id="16"/>
          <p:cNvSpPr txBox="true"/>
          <p:nvPr/>
        </p:nvSpPr>
        <p:spPr>
          <a:xfrm rot="0">
            <a:off x="6838589" y="7687246"/>
            <a:ext cx="5033248" cy="396240"/>
          </a:xfrm>
          <a:prstGeom prst="rect">
            <a:avLst/>
          </a:prstGeom>
        </p:spPr>
        <p:txBody>
          <a:bodyPr anchor="t" rtlCol="false" tIns="0" lIns="0" bIns="0" rIns="0">
            <a:spAutoFit/>
          </a:bodyPr>
          <a:lstStyle/>
          <a:p>
            <a:pPr algn="ctr" marL="518160" indent="-259080" lvl="1">
              <a:lnSpc>
                <a:spcPts val="3359"/>
              </a:lnSpc>
              <a:buFont typeface="Arial"/>
              <a:buChar char="•"/>
            </a:pPr>
            <a:r>
              <a:rPr lang="en-US" sz="2400">
                <a:solidFill>
                  <a:srgbClr val="000000"/>
                </a:solidFill>
                <a:latin typeface="Canva Sans"/>
                <a:ea typeface="Canva Sans"/>
                <a:cs typeface="Canva Sans"/>
                <a:sym typeface="Canva Sans"/>
              </a:rPr>
              <a:t>Pro</a:t>
            </a:r>
            <a:r>
              <a:rPr lang="en-US" sz="2400">
                <a:solidFill>
                  <a:srgbClr val="000000"/>
                </a:solidFill>
                <a:latin typeface="Canva Sans"/>
                <a:ea typeface="Canva Sans"/>
                <a:cs typeface="Canva Sans"/>
                <a:sym typeface="Canva Sans"/>
              </a:rPr>
              <a:t>tect LEDs from overcurrent</a:t>
            </a:r>
          </a:p>
        </p:txBody>
      </p:sp>
      <p:sp>
        <p:nvSpPr>
          <p:cNvPr name="TextBox 17" id="17"/>
          <p:cNvSpPr txBox="true"/>
          <p:nvPr/>
        </p:nvSpPr>
        <p:spPr>
          <a:xfrm rot="0">
            <a:off x="6864366" y="8045386"/>
            <a:ext cx="4867394" cy="396240"/>
          </a:xfrm>
          <a:prstGeom prst="rect">
            <a:avLst/>
          </a:prstGeom>
        </p:spPr>
        <p:txBody>
          <a:bodyPr anchor="t" rtlCol="false" tIns="0" lIns="0" bIns="0" rIns="0">
            <a:spAutoFit/>
          </a:bodyPr>
          <a:lstStyle/>
          <a:p>
            <a:pPr algn="ctr" marL="518160" indent="-259080" lvl="1">
              <a:lnSpc>
                <a:spcPts val="3359"/>
              </a:lnSpc>
              <a:buFont typeface="Arial"/>
              <a:buChar char="•"/>
            </a:pPr>
            <a:r>
              <a:rPr lang="en-US" sz="2400">
                <a:solidFill>
                  <a:srgbClr val="000000"/>
                </a:solidFill>
                <a:latin typeface="Canva Sans"/>
                <a:ea typeface="Canva Sans"/>
                <a:cs typeface="Canva Sans"/>
                <a:sym typeface="Canva Sans"/>
              </a:rPr>
              <a:t>Standard el</a:t>
            </a:r>
            <a:r>
              <a:rPr lang="en-US" sz="2400">
                <a:solidFill>
                  <a:srgbClr val="000000"/>
                </a:solidFill>
                <a:latin typeface="Canva Sans"/>
                <a:ea typeface="Canva Sans"/>
                <a:cs typeface="Canva Sans"/>
                <a:sym typeface="Canva Sans"/>
              </a:rPr>
              <a:t>ectronics practice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74" r="0" b="-74"/>
            </a:stretch>
          </a:blipFill>
        </p:spPr>
      </p:sp>
      <p:sp>
        <p:nvSpPr>
          <p:cNvPr name="AutoShape 3" id="3"/>
          <p:cNvSpPr/>
          <p:nvPr/>
        </p:nvSpPr>
        <p:spPr>
          <a:xfrm>
            <a:off x="410154" y="1114425"/>
            <a:ext cx="16447162" cy="0"/>
          </a:xfrm>
          <a:prstGeom prst="line">
            <a:avLst/>
          </a:prstGeom>
          <a:ln cap="flat" w="95250">
            <a:solidFill>
              <a:srgbClr val="545454"/>
            </a:solidFill>
            <a:prstDash val="solid"/>
            <a:headEnd type="none" len="sm" w="sm"/>
            <a:tailEnd type="none" len="sm" w="sm"/>
          </a:ln>
        </p:spPr>
      </p:sp>
      <p:sp>
        <p:nvSpPr>
          <p:cNvPr name="Freeform 4" id="4"/>
          <p:cNvSpPr/>
          <p:nvPr/>
        </p:nvSpPr>
        <p:spPr>
          <a:xfrm flipH="false" flipV="false" rot="0">
            <a:off x="9144000" y="1333500"/>
            <a:ext cx="8595534" cy="6632557"/>
          </a:xfrm>
          <a:custGeom>
            <a:avLst/>
            <a:gdLst/>
            <a:ahLst/>
            <a:cxnLst/>
            <a:rect r="r" b="b" t="t" l="l"/>
            <a:pathLst>
              <a:path h="6632557" w="8595534">
                <a:moveTo>
                  <a:pt x="0" y="0"/>
                </a:moveTo>
                <a:lnTo>
                  <a:pt x="8595534" y="0"/>
                </a:lnTo>
                <a:lnTo>
                  <a:pt x="8595534" y="6632557"/>
                </a:lnTo>
                <a:lnTo>
                  <a:pt x="0" y="6632557"/>
                </a:lnTo>
                <a:lnTo>
                  <a:pt x="0" y="0"/>
                </a:lnTo>
                <a:close/>
              </a:path>
            </a:pathLst>
          </a:custGeom>
          <a:blipFill>
            <a:blip r:embed="rId4"/>
            <a:stretch>
              <a:fillRect l="-552" t="-4163" r="0" b="-4163"/>
            </a:stretch>
          </a:blipFill>
        </p:spPr>
      </p:sp>
      <p:sp>
        <p:nvSpPr>
          <p:cNvPr name="TextBox 5" id="5"/>
          <p:cNvSpPr txBox="true"/>
          <p:nvPr/>
        </p:nvSpPr>
        <p:spPr>
          <a:xfrm rot="0">
            <a:off x="0" y="217633"/>
            <a:ext cx="9515475" cy="679450"/>
          </a:xfrm>
          <a:prstGeom prst="rect">
            <a:avLst/>
          </a:prstGeom>
        </p:spPr>
        <p:txBody>
          <a:bodyPr anchor="t" rtlCol="false" tIns="0" lIns="0" bIns="0" rIns="0">
            <a:spAutoFit/>
          </a:bodyPr>
          <a:lstStyle/>
          <a:p>
            <a:pPr algn="ctr">
              <a:lnSpc>
                <a:spcPts val="5599"/>
              </a:lnSpc>
            </a:pPr>
            <a:r>
              <a:rPr lang="en-US" b="true" sz="3999">
                <a:solidFill>
                  <a:srgbClr val="000000"/>
                </a:solidFill>
                <a:latin typeface="Canva Sans Bold"/>
                <a:ea typeface="Canva Sans Bold"/>
                <a:cs typeface="Canva Sans Bold"/>
                <a:sym typeface="Canva Sans Bold"/>
              </a:rPr>
              <a:t>Software Design and Decision Logic</a:t>
            </a:r>
          </a:p>
        </p:txBody>
      </p:sp>
      <p:sp>
        <p:nvSpPr>
          <p:cNvPr name="TextBox 6" id="6"/>
          <p:cNvSpPr txBox="true"/>
          <p:nvPr/>
        </p:nvSpPr>
        <p:spPr>
          <a:xfrm rot="0">
            <a:off x="410154" y="1276350"/>
            <a:ext cx="3308390" cy="481330"/>
          </a:xfrm>
          <a:prstGeom prst="rect">
            <a:avLst/>
          </a:prstGeom>
        </p:spPr>
        <p:txBody>
          <a:bodyPr anchor="t" rtlCol="false" tIns="0" lIns="0" bIns="0" rIns="0">
            <a:spAutoFit/>
          </a:bodyPr>
          <a:lstStyle/>
          <a:p>
            <a:pPr algn="ctr">
              <a:lnSpc>
                <a:spcPts val="3919"/>
              </a:lnSpc>
            </a:pPr>
            <a:r>
              <a:rPr lang="en-US" sz="2799" b="true">
                <a:solidFill>
                  <a:srgbClr val="000000"/>
                </a:solidFill>
                <a:latin typeface="Canva Sans Bold"/>
                <a:ea typeface="Canva Sans Bold"/>
                <a:cs typeface="Canva Sans Bold"/>
                <a:sym typeface="Canva Sans Bold"/>
              </a:rPr>
              <a:t>Softw</a:t>
            </a:r>
            <a:r>
              <a:rPr lang="en-US" b="true" sz="2799">
                <a:solidFill>
                  <a:srgbClr val="000000"/>
                </a:solidFill>
                <a:latin typeface="Canva Sans Bold"/>
                <a:ea typeface="Canva Sans Bold"/>
                <a:cs typeface="Canva Sans Bold"/>
                <a:sym typeface="Canva Sans Bold"/>
              </a:rPr>
              <a:t>are Structure</a:t>
            </a:r>
          </a:p>
        </p:txBody>
      </p:sp>
      <p:sp>
        <p:nvSpPr>
          <p:cNvPr name="TextBox 7" id="7"/>
          <p:cNvSpPr txBox="true"/>
          <p:nvPr/>
        </p:nvSpPr>
        <p:spPr>
          <a:xfrm rot="0">
            <a:off x="410154" y="1719580"/>
            <a:ext cx="7487841" cy="2910840"/>
          </a:xfrm>
          <a:prstGeom prst="rect">
            <a:avLst/>
          </a:prstGeom>
        </p:spPr>
        <p:txBody>
          <a:bodyPr anchor="t" rtlCol="false" tIns="0" lIns="0" bIns="0" rIns="0">
            <a:spAutoFit/>
          </a:bodyPr>
          <a:lstStyle/>
          <a:p>
            <a:pPr algn="l">
              <a:lnSpc>
                <a:spcPts val="3359"/>
              </a:lnSpc>
            </a:pPr>
            <a:r>
              <a:rPr lang="en-US" sz="2400">
                <a:solidFill>
                  <a:srgbClr val="000000"/>
                </a:solidFill>
                <a:latin typeface="Canva Sans"/>
                <a:ea typeface="Canva Sans"/>
                <a:cs typeface="Canva Sans"/>
                <a:sym typeface="Canva Sans"/>
              </a:rPr>
              <a:t>The program is divi</a:t>
            </a:r>
            <a:r>
              <a:rPr lang="en-US" sz="2400">
                <a:solidFill>
                  <a:srgbClr val="000000"/>
                </a:solidFill>
                <a:latin typeface="Canva Sans"/>
                <a:ea typeface="Canva Sans"/>
                <a:cs typeface="Canva Sans"/>
                <a:sym typeface="Canva Sans"/>
              </a:rPr>
              <a:t>ded into clear functional blocks:</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Sensor reading</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Decision-making logic</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Actuation (LED control)</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Wireless communication</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Cloud data upload</a:t>
            </a:r>
          </a:p>
          <a:p>
            <a:pPr algn="l">
              <a:lnSpc>
                <a:spcPts val="3359"/>
              </a:lnSpc>
            </a:pPr>
          </a:p>
        </p:txBody>
      </p:sp>
      <p:sp>
        <p:nvSpPr>
          <p:cNvPr name="TextBox 8" id="8"/>
          <p:cNvSpPr txBox="true"/>
          <p:nvPr/>
        </p:nvSpPr>
        <p:spPr>
          <a:xfrm rot="0">
            <a:off x="410154" y="4475480"/>
            <a:ext cx="3417213" cy="481330"/>
          </a:xfrm>
          <a:prstGeom prst="rect">
            <a:avLst/>
          </a:prstGeom>
        </p:spPr>
        <p:txBody>
          <a:bodyPr anchor="t" rtlCol="false" tIns="0" lIns="0" bIns="0" rIns="0">
            <a:spAutoFit/>
          </a:bodyPr>
          <a:lstStyle/>
          <a:p>
            <a:pPr algn="ctr">
              <a:lnSpc>
                <a:spcPts val="3919"/>
              </a:lnSpc>
            </a:pPr>
            <a:r>
              <a:rPr lang="en-US" sz="2799" b="true">
                <a:solidFill>
                  <a:srgbClr val="000000"/>
                </a:solidFill>
                <a:latin typeface="Canva Sans Bold"/>
                <a:ea typeface="Canva Sans Bold"/>
                <a:cs typeface="Canva Sans Bold"/>
                <a:sym typeface="Canva Sans Bold"/>
              </a:rPr>
              <a:t>Dec</a:t>
            </a:r>
            <a:r>
              <a:rPr lang="en-US" b="true" sz="2799">
                <a:solidFill>
                  <a:srgbClr val="000000"/>
                </a:solidFill>
                <a:latin typeface="Canva Sans Bold"/>
                <a:ea typeface="Canva Sans Bold"/>
                <a:cs typeface="Canva Sans Bold"/>
                <a:sym typeface="Canva Sans Bold"/>
              </a:rPr>
              <a:t>ision Logic Flow</a:t>
            </a:r>
          </a:p>
        </p:txBody>
      </p:sp>
      <p:sp>
        <p:nvSpPr>
          <p:cNvPr name="TextBox 9" id="9"/>
          <p:cNvSpPr txBox="true"/>
          <p:nvPr/>
        </p:nvSpPr>
        <p:spPr>
          <a:xfrm rot="0">
            <a:off x="410154" y="4975860"/>
            <a:ext cx="8476536" cy="45872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The ultrasonic sensor continuously measures </a:t>
            </a:r>
            <a:r>
              <a:rPr lang="en-US" sz="2400">
                <a:solidFill>
                  <a:srgbClr val="000000"/>
                </a:solidFill>
                <a:latin typeface="Canva Sans"/>
                <a:ea typeface="Canva Sans"/>
                <a:cs typeface="Canva Sans"/>
                <a:sym typeface="Canva Sans"/>
              </a:rPr>
              <a:t>distance</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Battery level is read using the ESP32 ADC</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If battery level is low:</a:t>
            </a:r>
          </a:p>
          <a:p>
            <a:pPr algn="l" marL="1036320" indent="-345440" lvl="2">
              <a:lnSpc>
                <a:spcPts val="3359"/>
              </a:lnSpc>
              <a:buFont typeface="Arial"/>
              <a:buChar char="⚬"/>
            </a:pPr>
            <a:r>
              <a:rPr lang="en-US" sz="2400">
                <a:solidFill>
                  <a:srgbClr val="000000"/>
                </a:solidFill>
                <a:latin typeface="Canva Sans"/>
                <a:ea typeface="Canva Sans"/>
                <a:cs typeface="Canva Sans"/>
                <a:sym typeface="Canva Sans"/>
              </a:rPr>
              <a:t>Robot enters safe mode</a:t>
            </a:r>
          </a:p>
          <a:p>
            <a:pPr algn="l" marL="1036320" indent="-345440" lvl="2">
              <a:lnSpc>
                <a:spcPts val="3359"/>
              </a:lnSpc>
              <a:buFont typeface="Arial"/>
              <a:buChar char="⚬"/>
            </a:pPr>
            <a:r>
              <a:rPr lang="en-US" sz="2400">
                <a:solidFill>
                  <a:srgbClr val="000000"/>
                </a:solidFill>
                <a:latin typeface="Canva Sans"/>
                <a:ea typeface="Canva Sans"/>
                <a:cs typeface="Canva Sans"/>
                <a:sym typeface="Canva Sans"/>
              </a:rPr>
              <a:t>Movement stops</a:t>
            </a:r>
          </a:p>
          <a:p>
            <a:pPr algn="l" marL="1036320" indent="-345440" lvl="2">
              <a:lnSpc>
                <a:spcPts val="3359"/>
              </a:lnSpc>
              <a:buFont typeface="Arial"/>
              <a:buChar char="⚬"/>
            </a:pPr>
            <a:r>
              <a:rPr lang="en-US" sz="2400">
                <a:solidFill>
                  <a:srgbClr val="000000"/>
                </a:solidFill>
                <a:latin typeface="Canva Sans"/>
                <a:ea typeface="Canva Sans"/>
                <a:cs typeface="Canva Sans"/>
                <a:sym typeface="Canva Sans"/>
              </a:rPr>
              <a:t>Warning indicator is activated</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If battery is normal:</a:t>
            </a:r>
          </a:p>
          <a:p>
            <a:pPr algn="l" marL="1036320" indent="-345440" lvl="2">
              <a:lnSpc>
                <a:spcPts val="3359"/>
              </a:lnSpc>
              <a:buFont typeface="Arial"/>
              <a:buChar char="⚬"/>
            </a:pPr>
            <a:r>
              <a:rPr lang="en-US" sz="2400">
                <a:solidFill>
                  <a:srgbClr val="000000"/>
                </a:solidFill>
                <a:latin typeface="Canva Sans"/>
                <a:ea typeface="Canva Sans"/>
                <a:cs typeface="Canva Sans"/>
                <a:sym typeface="Canva Sans"/>
              </a:rPr>
              <a:t>Distance is checked against a safe threshold</a:t>
            </a:r>
          </a:p>
          <a:p>
            <a:pPr algn="l" marL="1036320" indent="-345440" lvl="2">
              <a:lnSpc>
                <a:spcPts val="3359"/>
              </a:lnSpc>
              <a:buFont typeface="Arial"/>
              <a:buChar char="⚬"/>
            </a:pPr>
            <a:r>
              <a:rPr lang="en-US" sz="2400">
                <a:solidFill>
                  <a:srgbClr val="000000"/>
                </a:solidFill>
                <a:latin typeface="Canva Sans"/>
                <a:ea typeface="Canva Sans"/>
                <a:cs typeface="Canva Sans"/>
                <a:sym typeface="Canva Sans"/>
              </a:rPr>
              <a:t>If obstacle is detected → robot stops</a:t>
            </a:r>
          </a:p>
          <a:p>
            <a:pPr algn="l" marL="1036320" indent="-345440" lvl="2">
              <a:lnSpc>
                <a:spcPts val="3359"/>
              </a:lnSpc>
              <a:buFont typeface="Arial"/>
              <a:buChar char="⚬"/>
            </a:pPr>
            <a:r>
              <a:rPr lang="en-US" sz="2400">
                <a:solidFill>
                  <a:srgbClr val="000000"/>
                </a:solidFill>
                <a:latin typeface="Canva Sans"/>
                <a:ea typeface="Canva Sans"/>
                <a:cs typeface="Canva Sans"/>
                <a:sym typeface="Canva Sans"/>
              </a:rPr>
              <a:t>Otherwise → robot moves forward</a:t>
            </a:r>
          </a:p>
          <a:p>
            <a:pPr algn="l">
              <a:lnSpc>
                <a:spcPts val="33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2" r="0" b="-62"/>
            </a:stretch>
          </a:blipFill>
        </p:spPr>
      </p:sp>
      <p:sp>
        <p:nvSpPr>
          <p:cNvPr name="AutoShape 3" id="3"/>
          <p:cNvSpPr/>
          <p:nvPr/>
        </p:nvSpPr>
        <p:spPr>
          <a:xfrm>
            <a:off x="410154" y="1114425"/>
            <a:ext cx="16447162" cy="0"/>
          </a:xfrm>
          <a:prstGeom prst="line">
            <a:avLst/>
          </a:prstGeom>
          <a:ln cap="flat" w="95250">
            <a:solidFill>
              <a:srgbClr val="545454"/>
            </a:solidFill>
            <a:prstDash val="solid"/>
            <a:headEnd type="none" len="sm" w="sm"/>
            <a:tailEnd type="none" len="sm" w="sm"/>
          </a:ln>
        </p:spPr>
      </p:sp>
      <p:sp>
        <p:nvSpPr>
          <p:cNvPr name="Freeform 4" id="4"/>
          <p:cNvSpPr/>
          <p:nvPr/>
        </p:nvSpPr>
        <p:spPr>
          <a:xfrm flipH="false" flipV="false" rot="0">
            <a:off x="9719799" y="1242788"/>
            <a:ext cx="7450301" cy="3340582"/>
          </a:xfrm>
          <a:custGeom>
            <a:avLst/>
            <a:gdLst/>
            <a:ahLst/>
            <a:cxnLst/>
            <a:rect r="r" b="b" t="t" l="l"/>
            <a:pathLst>
              <a:path h="3340582" w="7450301">
                <a:moveTo>
                  <a:pt x="0" y="0"/>
                </a:moveTo>
                <a:lnTo>
                  <a:pt x="7450301" y="0"/>
                </a:lnTo>
                <a:lnTo>
                  <a:pt x="7450301" y="3340582"/>
                </a:lnTo>
                <a:lnTo>
                  <a:pt x="0" y="3340582"/>
                </a:lnTo>
                <a:lnTo>
                  <a:pt x="0" y="0"/>
                </a:lnTo>
                <a:close/>
              </a:path>
            </a:pathLst>
          </a:custGeom>
          <a:blipFill>
            <a:blip r:embed="rId4"/>
            <a:stretch>
              <a:fillRect l="0" t="0" r="0" b="0"/>
            </a:stretch>
          </a:blipFill>
        </p:spPr>
      </p:sp>
      <p:sp>
        <p:nvSpPr>
          <p:cNvPr name="Freeform 5" id="5"/>
          <p:cNvSpPr/>
          <p:nvPr/>
        </p:nvSpPr>
        <p:spPr>
          <a:xfrm flipH="false" flipV="false" rot="0">
            <a:off x="8607131" y="5021520"/>
            <a:ext cx="9437645" cy="3071067"/>
          </a:xfrm>
          <a:custGeom>
            <a:avLst/>
            <a:gdLst/>
            <a:ahLst/>
            <a:cxnLst/>
            <a:rect r="r" b="b" t="t" l="l"/>
            <a:pathLst>
              <a:path h="3071067" w="9437645">
                <a:moveTo>
                  <a:pt x="0" y="0"/>
                </a:moveTo>
                <a:lnTo>
                  <a:pt x="9437645" y="0"/>
                </a:lnTo>
                <a:lnTo>
                  <a:pt x="9437645" y="3071067"/>
                </a:lnTo>
                <a:lnTo>
                  <a:pt x="0" y="3071067"/>
                </a:lnTo>
                <a:lnTo>
                  <a:pt x="0" y="0"/>
                </a:lnTo>
                <a:close/>
              </a:path>
            </a:pathLst>
          </a:custGeom>
          <a:blipFill>
            <a:blip r:embed="rId5"/>
            <a:stretch>
              <a:fillRect l="-1306" t="0" r="0" b="-791"/>
            </a:stretch>
          </a:blipFill>
        </p:spPr>
      </p:sp>
      <p:sp>
        <p:nvSpPr>
          <p:cNvPr name="TextBox 6" id="6"/>
          <p:cNvSpPr txBox="true"/>
          <p:nvPr/>
        </p:nvSpPr>
        <p:spPr>
          <a:xfrm rot="0">
            <a:off x="345185" y="191135"/>
            <a:ext cx="9894114"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nva Sans Bold"/>
                <a:ea typeface="Canva Sans Bold"/>
                <a:cs typeface="Canva Sans Bold"/>
                <a:sym typeface="Canva Sans Bold"/>
              </a:rPr>
              <a:t>Communication Method and Cloud Integration</a:t>
            </a:r>
          </a:p>
        </p:txBody>
      </p:sp>
      <p:sp>
        <p:nvSpPr>
          <p:cNvPr name="TextBox 7" id="7"/>
          <p:cNvSpPr txBox="true"/>
          <p:nvPr/>
        </p:nvSpPr>
        <p:spPr>
          <a:xfrm rot="0">
            <a:off x="446328" y="1423610"/>
            <a:ext cx="3703201" cy="396240"/>
          </a:xfrm>
          <a:prstGeom prst="rect">
            <a:avLst/>
          </a:prstGeom>
        </p:spPr>
        <p:txBody>
          <a:bodyPr anchor="t" rtlCol="false" tIns="0" lIns="0" bIns="0" rIns="0">
            <a:spAutoFit/>
          </a:bodyPr>
          <a:lstStyle/>
          <a:p>
            <a:pPr algn="ctr">
              <a:lnSpc>
                <a:spcPts val="3359"/>
              </a:lnSpc>
            </a:pPr>
            <a:r>
              <a:rPr lang="en-US" sz="2400" b="true">
                <a:solidFill>
                  <a:srgbClr val="000000"/>
                </a:solidFill>
                <a:latin typeface="Canva Sans Bold"/>
                <a:ea typeface="Canva Sans Bold"/>
                <a:cs typeface="Canva Sans Bold"/>
                <a:sym typeface="Canva Sans Bold"/>
              </a:rPr>
              <a:t>W</a:t>
            </a:r>
            <a:r>
              <a:rPr lang="en-US" b="true" sz="2400">
                <a:solidFill>
                  <a:srgbClr val="000000"/>
                </a:solidFill>
                <a:latin typeface="Canva Sans Bold"/>
                <a:ea typeface="Canva Sans Bold"/>
                <a:cs typeface="Canva Sans Bold"/>
                <a:sym typeface="Canva Sans Bold"/>
              </a:rPr>
              <a:t>ireless Communication</a:t>
            </a:r>
          </a:p>
        </p:txBody>
      </p:sp>
      <p:sp>
        <p:nvSpPr>
          <p:cNvPr name="TextBox 8" id="8"/>
          <p:cNvSpPr txBox="true"/>
          <p:nvPr/>
        </p:nvSpPr>
        <p:spPr>
          <a:xfrm rot="0">
            <a:off x="345185" y="1934150"/>
            <a:ext cx="8911114" cy="20726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The ESP32 uses Wi-Fi for communication</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Wi-Fi</a:t>
            </a:r>
            <a:r>
              <a:rPr lang="en-US" sz="2400">
                <a:solidFill>
                  <a:srgbClr val="000000"/>
                </a:solidFill>
                <a:latin typeface="Canva Sans"/>
                <a:ea typeface="Canva Sans"/>
                <a:cs typeface="Canva Sans"/>
                <a:sym typeface="Canva Sans"/>
              </a:rPr>
              <a:t> enables long-range and internet-based connectivity</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Suitable for remote monitoring applications</a:t>
            </a:r>
          </a:p>
          <a:p>
            <a:pPr algn="l" marL="518160" indent="-259080" lvl="1">
              <a:lnSpc>
                <a:spcPts val="3359"/>
              </a:lnSpc>
              <a:buFont typeface="Arial"/>
              <a:buChar char="•"/>
            </a:pPr>
            <a:r>
              <a:rPr lang="en-US" b="true" sz="2400">
                <a:solidFill>
                  <a:srgbClr val="000000"/>
                </a:solidFill>
                <a:latin typeface="Canva Sans Bold"/>
                <a:ea typeface="Canva Sans Bold"/>
                <a:cs typeface="Canva Sans Bold"/>
                <a:sym typeface="Canva Sans Bold"/>
              </a:rPr>
              <a:t>Protocol used: </a:t>
            </a:r>
            <a:r>
              <a:rPr lang="en-US" sz="2400">
                <a:solidFill>
                  <a:srgbClr val="000000"/>
                </a:solidFill>
                <a:latin typeface="Canva Sans"/>
                <a:ea typeface="Canva Sans"/>
                <a:cs typeface="Canva Sans"/>
                <a:sym typeface="Canva Sans"/>
              </a:rPr>
              <a:t>HTTP </a:t>
            </a:r>
          </a:p>
          <a:p>
            <a:pPr algn="l">
              <a:lnSpc>
                <a:spcPts val="3359"/>
              </a:lnSpc>
            </a:pPr>
          </a:p>
        </p:txBody>
      </p:sp>
      <p:sp>
        <p:nvSpPr>
          <p:cNvPr name="TextBox 9" id="9"/>
          <p:cNvSpPr txBox="true"/>
          <p:nvPr/>
        </p:nvSpPr>
        <p:spPr>
          <a:xfrm rot="0">
            <a:off x="410154" y="3921065"/>
            <a:ext cx="3703201" cy="481330"/>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Clou</a:t>
            </a:r>
            <a:r>
              <a:rPr lang="en-US" b="true" sz="2799">
                <a:solidFill>
                  <a:srgbClr val="000000"/>
                </a:solidFill>
                <a:latin typeface="Canva Sans Bold"/>
                <a:ea typeface="Canva Sans Bold"/>
                <a:cs typeface="Canva Sans Bold"/>
                <a:sym typeface="Canva Sans Bold"/>
              </a:rPr>
              <a:t>d Platform</a:t>
            </a:r>
          </a:p>
        </p:txBody>
      </p:sp>
      <p:sp>
        <p:nvSpPr>
          <p:cNvPr name="TextBox 10" id="10"/>
          <p:cNvSpPr txBox="true"/>
          <p:nvPr/>
        </p:nvSpPr>
        <p:spPr>
          <a:xfrm rot="0">
            <a:off x="419679" y="4545270"/>
            <a:ext cx="7949327" cy="16535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ThingSpeak is use</a:t>
            </a:r>
            <a:r>
              <a:rPr lang="en-US" sz="2400">
                <a:solidFill>
                  <a:srgbClr val="000000"/>
                </a:solidFill>
                <a:latin typeface="Canva Sans"/>
                <a:ea typeface="Canva Sans"/>
                <a:cs typeface="Canva Sans"/>
                <a:sym typeface="Canva Sans"/>
              </a:rPr>
              <a:t>d as the IoT cloud platform</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Receives data from the ESP32 using HTTP requests</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Stores and visualizes data in real time</a:t>
            </a:r>
          </a:p>
          <a:p>
            <a:pPr algn="l">
              <a:lnSpc>
                <a:spcPts val="3359"/>
              </a:lnSpc>
            </a:pPr>
          </a:p>
        </p:txBody>
      </p:sp>
      <p:sp>
        <p:nvSpPr>
          <p:cNvPr name="TextBox 11" id="11"/>
          <p:cNvSpPr txBox="true"/>
          <p:nvPr/>
        </p:nvSpPr>
        <p:spPr>
          <a:xfrm rot="0">
            <a:off x="446328" y="6103560"/>
            <a:ext cx="3272909" cy="481330"/>
          </a:xfrm>
          <a:prstGeom prst="rect">
            <a:avLst/>
          </a:prstGeom>
        </p:spPr>
        <p:txBody>
          <a:bodyPr anchor="t" rtlCol="false" tIns="0" lIns="0" bIns="0" rIns="0">
            <a:spAutoFit/>
          </a:bodyPr>
          <a:lstStyle/>
          <a:p>
            <a:pPr algn="l">
              <a:lnSpc>
                <a:spcPts val="3919"/>
              </a:lnSpc>
            </a:pPr>
            <a:r>
              <a:rPr lang="en-US" sz="2799" b="true">
                <a:solidFill>
                  <a:srgbClr val="000000"/>
                </a:solidFill>
                <a:latin typeface="Canva Sans Bold"/>
                <a:ea typeface="Canva Sans Bold"/>
                <a:cs typeface="Canva Sans Bold"/>
                <a:sym typeface="Canva Sans Bold"/>
              </a:rPr>
              <a:t>Dat</a:t>
            </a:r>
            <a:r>
              <a:rPr lang="en-US" b="true" sz="2799">
                <a:solidFill>
                  <a:srgbClr val="000000"/>
                </a:solidFill>
                <a:latin typeface="Canva Sans Bold"/>
                <a:ea typeface="Canva Sans Bold"/>
                <a:cs typeface="Canva Sans Bold"/>
                <a:sym typeface="Canva Sans Bold"/>
              </a:rPr>
              <a:t>a Sent to Cloud</a:t>
            </a:r>
          </a:p>
        </p:txBody>
      </p:sp>
      <p:sp>
        <p:nvSpPr>
          <p:cNvPr name="TextBox 12" id="12"/>
          <p:cNvSpPr txBox="true"/>
          <p:nvPr/>
        </p:nvSpPr>
        <p:spPr>
          <a:xfrm rot="0">
            <a:off x="446328" y="6718240"/>
            <a:ext cx="6138386" cy="16535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Dist</a:t>
            </a:r>
            <a:r>
              <a:rPr lang="en-US" sz="2400">
                <a:solidFill>
                  <a:srgbClr val="000000"/>
                </a:solidFill>
                <a:latin typeface="Canva Sans"/>
                <a:ea typeface="Canva Sans"/>
                <a:cs typeface="Canva Sans"/>
                <a:sym typeface="Canva Sans"/>
              </a:rPr>
              <a:t>ance to obstacle (cm)</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Robot state (Forward / Stop / Warning)</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Battery percentage</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Low battery alert flag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2" r="0" b="-62"/>
            </a:stretch>
          </a:blipFill>
        </p:spPr>
      </p:sp>
      <p:sp>
        <p:nvSpPr>
          <p:cNvPr name="AutoShape 3" id="3"/>
          <p:cNvSpPr/>
          <p:nvPr/>
        </p:nvSpPr>
        <p:spPr>
          <a:xfrm>
            <a:off x="381579" y="1076325"/>
            <a:ext cx="16447162" cy="0"/>
          </a:xfrm>
          <a:prstGeom prst="line">
            <a:avLst/>
          </a:prstGeom>
          <a:ln cap="flat" w="95250">
            <a:solidFill>
              <a:srgbClr val="545454"/>
            </a:solidFill>
            <a:prstDash val="solid"/>
            <a:headEnd type="none" len="sm" w="sm"/>
            <a:tailEnd type="none" len="sm" w="sm"/>
          </a:ln>
        </p:spPr>
      </p:sp>
      <p:sp>
        <p:nvSpPr>
          <p:cNvPr name="Freeform 4" id="4"/>
          <p:cNvSpPr/>
          <p:nvPr/>
        </p:nvSpPr>
        <p:spPr>
          <a:xfrm flipH="false" flipV="false" rot="0">
            <a:off x="13430594" y="1279235"/>
            <a:ext cx="3398147" cy="3398147"/>
          </a:xfrm>
          <a:custGeom>
            <a:avLst/>
            <a:gdLst/>
            <a:ahLst/>
            <a:cxnLst/>
            <a:rect r="r" b="b" t="t" l="l"/>
            <a:pathLst>
              <a:path h="3398147" w="3398147">
                <a:moveTo>
                  <a:pt x="0" y="0"/>
                </a:moveTo>
                <a:lnTo>
                  <a:pt x="3398147" y="0"/>
                </a:lnTo>
                <a:lnTo>
                  <a:pt x="3398147" y="3398147"/>
                </a:lnTo>
                <a:lnTo>
                  <a:pt x="0" y="3398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9629866" y="4677382"/>
            <a:ext cx="3288867" cy="4114800"/>
          </a:xfrm>
          <a:custGeom>
            <a:avLst/>
            <a:gdLst/>
            <a:ahLst/>
            <a:cxnLst/>
            <a:rect r="r" b="b" t="t" l="l"/>
            <a:pathLst>
              <a:path h="4114800" w="3288867">
                <a:moveTo>
                  <a:pt x="0" y="0"/>
                </a:moveTo>
                <a:lnTo>
                  <a:pt x="3288867" y="0"/>
                </a:lnTo>
                <a:lnTo>
                  <a:pt x="328886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81579" y="153035"/>
            <a:ext cx="10520995"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nva Sans Bold"/>
                <a:ea typeface="Canva Sans Bold"/>
                <a:cs typeface="Canva Sans Bold"/>
                <a:sym typeface="Canva Sans Bold"/>
              </a:rPr>
              <a:t>Power Management and Security Considerations</a:t>
            </a:r>
          </a:p>
        </p:txBody>
      </p:sp>
      <p:sp>
        <p:nvSpPr>
          <p:cNvPr name="TextBox 7" id="7"/>
          <p:cNvSpPr txBox="true"/>
          <p:nvPr/>
        </p:nvSpPr>
        <p:spPr>
          <a:xfrm rot="0">
            <a:off x="381579" y="1222085"/>
            <a:ext cx="3519011" cy="481330"/>
          </a:xfrm>
          <a:prstGeom prst="rect">
            <a:avLst/>
          </a:prstGeom>
        </p:spPr>
        <p:txBody>
          <a:bodyPr anchor="t" rtlCol="false" tIns="0" lIns="0" bIns="0" rIns="0">
            <a:spAutoFit/>
          </a:bodyPr>
          <a:lstStyle/>
          <a:p>
            <a:pPr algn="ctr">
              <a:lnSpc>
                <a:spcPts val="3919"/>
              </a:lnSpc>
            </a:pPr>
            <a:r>
              <a:rPr lang="en-US" b="true" sz="2799">
                <a:solidFill>
                  <a:srgbClr val="000000"/>
                </a:solidFill>
                <a:latin typeface="Canva Sans Bold"/>
                <a:ea typeface="Canva Sans Bold"/>
                <a:cs typeface="Canva Sans Bold"/>
                <a:sym typeface="Canva Sans Bold"/>
              </a:rPr>
              <a:t> Power Management</a:t>
            </a:r>
          </a:p>
        </p:txBody>
      </p:sp>
      <p:sp>
        <p:nvSpPr>
          <p:cNvPr name="TextBox 8" id="8"/>
          <p:cNvSpPr txBox="true"/>
          <p:nvPr/>
        </p:nvSpPr>
        <p:spPr>
          <a:xfrm rot="0">
            <a:off x="381579" y="1665315"/>
            <a:ext cx="11065193" cy="20726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Battery level is monitore</a:t>
            </a:r>
            <a:r>
              <a:rPr lang="en-US" sz="2400">
                <a:solidFill>
                  <a:srgbClr val="000000"/>
                </a:solidFill>
                <a:latin typeface="Canva Sans"/>
                <a:ea typeface="Canva Sans"/>
                <a:cs typeface="Canva Sans"/>
                <a:sym typeface="Canva Sans"/>
              </a:rPr>
              <a:t>d using an ESP32 ADC input</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A low-battery threshold triggers a warning state</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Robot enters safe mode to prevent battery damage</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Cloud data is sent every 15 seconds to reduce Wi-Fi power consumption</a:t>
            </a:r>
          </a:p>
          <a:p>
            <a:pPr algn="l">
              <a:lnSpc>
                <a:spcPts val="3359"/>
              </a:lnSpc>
            </a:pPr>
          </a:p>
        </p:txBody>
      </p:sp>
      <p:sp>
        <p:nvSpPr>
          <p:cNvPr name="TextBox 9" id="9"/>
          <p:cNvSpPr txBox="true"/>
          <p:nvPr/>
        </p:nvSpPr>
        <p:spPr>
          <a:xfrm rot="0">
            <a:off x="677390" y="3493534"/>
            <a:ext cx="7838123" cy="815340"/>
          </a:xfrm>
          <a:prstGeom prst="rect">
            <a:avLst/>
          </a:prstGeom>
        </p:spPr>
        <p:txBody>
          <a:bodyPr anchor="t" rtlCol="false" tIns="0" lIns="0" bIns="0" rIns="0">
            <a:spAutoFit/>
          </a:bodyPr>
          <a:lstStyle/>
          <a:p>
            <a:pPr algn="l">
              <a:lnSpc>
                <a:spcPts val="3359"/>
              </a:lnSpc>
            </a:pPr>
            <a:r>
              <a:rPr lang="en-US" sz="2400" b="true">
                <a:solidFill>
                  <a:srgbClr val="000000"/>
                </a:solidFill>
                <a:latin typeface="Canva Sans Bold"/>
                <a:ea typeface="Canva Sans Bold"/>
                <a:cs typeface="Canva Sans Bold"/>
                <a:sym typeface="Canva Sans Bold"/>
              </a:rPr>
              <a:t>Benef</a:t>
            </a:r>
            <a:r>
              <a:rPr lang="en-US" b="true" sz="2400">
                <a:solidFill>
                  <a:srgbClr val="000000"/>
                </a:solidFill>
                <a:latin typeface="Canva Sans Bold"/>
                <a:ea typeface="Canva Sans Bold"/>
                <a:cs typeface="Canva Sans Bold"/>
                <a:sym typeface="Canva Sans Bold"/>
              </a:rPr>
              <a:t>it:</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 Improves energy efficiency and system reliability.</a:t>
            </a:r>
          </a:p>
        </p:txBody>
      </p:sp>
      <p:sp>
        <p:nvSpPr>
          <p:cNvPr name="TextBox 10" id="10"/>
          <p:cNvSpPr txBox="true"/>
          <p:nvPr/>
        </p:nvSpPr>
        <p:spPr>
          <a:xfrm rot="0">
            <a:off x="381579" y="5032774"/>
            <a:ext cx="4171355" cy="481330"/>
          </a:xfrm>
          <a:prstGeom prst="rect">
            <a:avLst/>
          </a:prstGeom>
        </p:spPr>
        <p:txBody>
          <a:bodyPr anchor="t" rtlCol="false" tIns="0" lIns="0" bIns="0" rIns="0">
            <a:spAutoFit/>
          </a:bodyPr>
          <a:lstStyle/>
          <a:p>
            <a:pPr algn="ctr">
              <a:lnSpc>
                <a:spcPts val="3919"/>
              </a:lnSpc>
            </a:pPr>
            <a:r>
              <a:rPr lang="en-US" sz="2799" b="true">
                <a:solidFill>
                  <a:srgbClr val="000000"/>
                </a:solidFill>
                <a:latin typeface="Canva Sans Bold"/>
                <a:ea typeface="Canva Sans Bold"/>
                <a:cs typeface="Canva Sans Bold"/>
                <a:sym typeface="Canva Sans Bold"/>
              </a:rPr>
              <a:t>S</a:t>
            </a:r>
            <a:r>
              <a:rPr lang="en-US" b="true" sz="2799">
                <a:solidFill>
                  <a:srgbClr val="000000"/>
                </a:solidFill>
                <a:latin typeface="Canva Sans Bold"/>
                <a:ea typeface="Canva Sans Bold"/>
                <a:cs typeface="Canva Sans Bold"/>
                <a:sym typeface="Canva Sans Bold"/>
              </a:rPr>
              <a:t>ecurity Considerations</a:t>
            </a:r>
          </a:p>
        </p:txBody>
      </p:sp>
      <p:sp>
        <p:nvSpPr>
          <p:cNvPr name="TextBox 11" id="11"/>
          <p:cNvSpPr txBox="true"/>
          <p:nvPr/>
        </p:nvSpPr>
        <p:spPr>
          <a:xfrm rot="0">
            <a:off x="381579" y="5628404"/>
            <a:ext cx="8717280" cy="29870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ThingSpeak</a:t>
            </a:r>
            <a:r>
              <a:rPr lang="en-US" sz="2400">
                <a:solidFill>
                  <a:srgbClr val="000000"/>
                </a:solidFill>
                <a:latin typeface="Canva Sans"/>
                <a:ea typeface="Canva Sans"/>
                <a:cs typeface="Canva Sans"/>
                <a:sym typeface="Canva Sans"/>
              </a:rPr>
              <a:t> channel is set to private</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Data upload requires a Write API Key</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Prevents unauthorized data access</a:t>
            </a:r>
          </a:p>
          <a:p>
            <a:pPr algn="l">
              <a:lnSpc>
                <a:spcPts val="3919"/>
              </a:lnSpc>
            </a:pPr>
            <a:r>
              <a:rPr lang="en-US" b="true" sz="2799">
                <a:solidFill>
                  <a:srgbClr val="000000"/>
                </a:solidFill>
                <a:latin typeface="Canva Sans Bold"/>
                <a:ea typeface="Canva Sans Bold"/>
                <a:cs typeface="Canva Sans Bold"/>
                <a:sym typeface="Canva Sans Bold"/>
              </a:rPr>
              <a:t>Design trade-off:</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Simple security is suitable for prototype systems</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Advanced encryption can be added in real deployments</a:t>
            </a:r>
          </a:p>
          <a:p>
            <a:pPr algn="l">
              <a:lnSpc>
                <a:spcPts val="33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2" r="0" b="-62"/>
            </a:stretch>
          </a:blipFill>
        </p:spPr>
      </p:sp>
      <p:sp>
        <p:nvSpPr>
          <p:cNvPr name="TextBox 3" id="3"/>
          <p:cNvSpPr txBox="true"/>
          <p:nvPr/>
        </p:nvSpPr>
        <p:spPr>
          <a:xfrm rot="0">
            <a:off x="923925" y="249007"/>
            <a:ext cx="5546765"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Canva Sans Bold"/>
                <a:ea typeface="Canva Sans Bold"/>
                <a:cs typeface="Canva Sans Bold"/>
                <a:sym typeface="Canva Sans Bold"/>
              </a:rPr>
              <a:t>Refle</a:t>
            </a:r>
            <a:r>
              <a:rPr lang="en-US" b="true" sz="3399">
                <a:solidFill>
                  <a:srgbClr val="000000"/>
                </a:solidFill>
                <a:latin typeface="Canva Sans Bold"/>
                <a:ea typeface="Canva Sans Bold"/>
                <a:cs typeface="Canva Sans Bold"/>
                <a:sym typeface="Canva Sans Bold"/>
              </a:rPr>
              <a:t>ction and Conclusion</a:t>
            </a:r>
          </a:p>
        </p:txBody>
      </p:sp>
      <p:sp>
        <p:nvSpPr>
          <p:cNvPr name="AutoShape 4" id="4"/>
          <p:cNvSpPr/>
          <p:nvPr/>
        </p:nvSpPr>
        <p:spPr>
          <a:xfrm>
            <a:off x="381579" y="1076325"/>
            <a:ext cx="16447162" cy="0"/>
          </a:xfrm>
          <a:prstGeom prst="line">
            <a:avLst/>
          </a:prstGeom>
          <a:ln cap="flat" w="95250">
            <a:solidFill>
              <a:srgbClr val="545454"/>
            </a:solidFill>
            <a:prstDash val="solid"/>
            <a:headEnd type="none" len="sm" w="sm"/>
            <a:tailEnd type="none" len="sm" w="sm"/>
          </a:ln>
        </p:spPr>
      </p:sp>
      <p:sp>
        <p:nvSpPr>
          <p:cNvPr name="TextBox 5" id="5"/>
          <p:cNvSpPr txBox="true"/>
          <p:nvPr/>
        </p:nvSpPr>
        <p:spPr>
          <a:xfrm rot="0">
            <a:off x="588151" y="1432596"/>
            <a:ext cx="16976162" cy="6424930"/>
          </a:xfrm>
          <a:prstGeom prst="rect">
            <a:avLst/>
          </a:prstGeom>
        </p:spPr>
        <p:txBody>
          <a:bodyPr anchor="t" rtlCol="false" tIns="0" lIns="0" bIns="0" rIns="0">
            <a:spAutoFit/>
          </a:bodyPr>
          <a:lstStyle/>
          <a:p>
            <a:pPr algn="just">
              <a:lnSpc>
                <a:spcPts val="3919"/>
              </a:lnSpc>
            </a:pPr>
            <a:r>
              <a:rPr lang="en-US" sz="2799">
                <a:solidFill>
                  <a:srgbClr val="000000"/>
                </a:solidFill>
                <a:latin typeface="Canva Sans"/>
                <a:ea typeface="Canva Sans"/>
                <a:cs typeface="Canva Sans"/>
                <a:sym typeface="Canva Sans"/>
              </a:rPr>
              <a:t>This project made me realize how an IoT system is developed as the whole solution and not as a group of elements. The application of the ESP32 microcontroller helped me to understand how sensors, decision logic, wireless communication, and cloud platforms interact in a real-life application. My experience with obstacle detection with the help of an ultrasonic sensor helped me understand how real-time data processing and local decision-making works. </a:t>
            </a:r>
            <a:r>
              <a:rPr lang="en-US" sz="2799">
                <a:solidFill>
                  <a:srgbClr val="000000"/>
                </a:solidFill>
                <a:latin typeface="Canva Sans"/>
                <a:ea typeface="Canva Sans"/>
                <a:cs typeface="Canva Sans"/>
                <a:sym typeface="Canva Sans"/>
              </a:rPr>
              <a:t>Among the valuable lessons was the need to create a balance between the responsiveness of systems and their power utilization that prompted the introduction of the periodic update of cloud-based services and a low-battery alert system. Applying ThingSpeak allowed seeing data remotely and learn the way in which IoT dashboards will aid in monitoring and analyzing. The wokwi simulation, which was applied to testing logic and system behavior, was not based on physical hardware. Generally, this project enhanced my knowledge in the domain of IoT architecture, system scalability and design trade-offs in practice, and it further gave me confidence in building embedded systems and IoT-based systems.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2" r="0" b="-62"/>
            </a:stretch>
          </a:blipFill>
        </p:spPr>
      </p:sp>
      <p:sp>
        <p:nvSpPr>
          <p:cNvPr name="Freeform 3" id="3"/>
          <p:cNvSpPr/>
          <p:nvPr/>
        </p:nvSpPr>
        <p:spPr>
          <a:xfrm flipH="false" flipV="false" rot="0">
            <a:off x="0" y="0"/>
            <a:ext cx="6537690" cy="5935641"/>
          </a:xfrm>
          <a:custGeom>
            <a:avLst/>
            <a:gdLst/>
            <a:ahLst/>
            <a:cxnLst/>
            <a:rect r="r" b="b" t="t" l="l"/>
            <a:pathLst>
              <a:path h="5935641" w="6537690">
                <a:moveTo>
                  <a:pt x="0" y="0"/>
                </a:moveTo>
                <a:lnTo>
                  <a:pt x="6537690" y="0"/>
                </a:lnTo>
                <a:lnTo>
                  <a:pt x="6537690" y="5935641"/>
                </a:lnTo>
                <a:lnTo>
                  <a:pt x="0" y="5935641"/>
                </a:lnTo>
                <a:lnTo>
                  <a:pt x="0" y="0"/>
                </a:lnTo>
                <a:close/>
              </a:path>
            </a:pathLst>
          </a:custGeom>
          <a:blipFill>
            <a:blip r:embed="rId3"/>
            <a:stretch>
              <a:fillRect l="0" t="0" r="0" b="-8613"/>
            </a:stretch>
          </a:blipFill>
        </p:spPr>
      </p:sp>
      <p:sp>
        <p:nvSpPr>
          <p:cNvPr name="Freeform 4" id="4"/>
          <p:cNvSpPr/>
          <p:nvPr/>
        </p:nvSpPr>
        <p:spPr>
          <a:xfrm flipH="false" flipV="false" rot="0">
            <a:off x="6700087" y="242985"/>
            <a:ext cx="11301259" cy="3630529"/>
          </a:xfrm>
          <a:custGeom>
            <a:avLst/>
            <a:gdLst/>
            <a:ahLst/>
            <a:cxnLst/>
            <a:rect r="r" b="b" t="t" l="l"/>
            <a:pathLst>
              <a:path h="3630529" w="11301259">
                <a:moveTo>
                  <a:pt x="0" y="0"/>
                </a:moveTo>
                <a:lnTo>
                  <a:pt x="11301259" y="0"/>
                </a:lnTo>
                <a:lnTo>
                  <a:pt x="11301259" y="3630530"/>
                </a:lnTo>
                <a:lnTo>
                  <a:pt x="0" y="3630530"/>
                </a:lnTo>
                <a:lnTo>
                  <a:pt x="0" y="0"/>
                </a:lnTo>
                <a:close/>
              </a:path>
            </a:pathLst>
          </a:custGeom>
          <a:blipFill>
            <a:blip r:embed="rId4"/>
            <a:stretch>
              <a:fillRect l="0" t="0" r="0" b="0"/>
            </a:stretch>
          </a:blipFill>
        </p:spPr>
      </p:sp>
      <p:sp>
        <p:nvSpPr>
          <p:cNvPr name="Freeform 5" id="5"/>
          <p:cNvSpPr/>
          <p:nvPr/>
        </p:nvSpPr>
        <p:spPr>
          <a:xfrm flipH="false" flipV="false" rot="0">
            <a:off x="6700087" y="4045018"/>
            <a:ext cx="11301259" cy="5241857"/>
          </a:xfrm>
          <a:custGeom>
            <a:avLst/>
            <a:gdLst/>
            <a:ahLst/>
            <a:cxnLst/>
            <a:rect r="r" b="b" t="t" l="l"/>
            <a:pathLst>
              <a:path h="5241857" w="11301259">
                <a:moveTo>
                  <a:pt x="0" y="0"/>
                </a:moveTo>
                <a:lnTo>
                  <a:pt x="11301259" y="0"/>
                </a:lnTo>
                <a:lnTo>
                  <a:pt x="11301259" y="5241857"/>
                </a:lnTo>
                <a:lnTo>
                  <a:pt x="0" y="5241857"/>
                </a:lnTo>
                <a:lnTo>
                  <a:pt x="0" y="0"/>
                </a:lnTo>
                <a:close/>
              </a:path>
            </a:pathLst>
          </a:custGeom>
          <a:blipFill>
            <a:blip r:embed="rId5"/>
            <a:stretch>
              <a:fillRect l="0" t="-5111" r="0" b="-5111"/>
            </a:stretch>
          </a:blipFill>
        </p:spPr>
      </p:sp>
      <p:sp>
        <p:nvSpPr>
          <p:cNvPr name="Freeform 6" id="6"/>
          <p:cNvSpPr/>
          <p:nvPr/>
        </p:nvSpPr>
        <p:spPr>
          <a:xfrm flipH="false" flipV="false" rot="0">
            <a:off x="1637705" y="6069731"/>
            <a:ext cx="3738102" cy="3217144"/>
          </a:xfrm>
          <a:custGeom>
            <a:avLst/>
            <a:gdLst/>
            <a:ahLst/>
            <a:cxnLst/>
            <a:rect r="r" b="b" t="t" l="l"/>
            <a:pathLst>
              <a:path h="3217144" w="3738102">
                <a:moveTo>
                  <a:pt x="0" y="0"/>
                </a:moveTo>
                <a:lnTo>
                  <a:pt x="3738102" y="0"/>
                </a:lnTo>
                <a:lnTo>
                  <a:pt x="3738102" y="3217144"/>
                </a:lnTo>
                <a:lnTo>
                  <a:pt x="0" y="3217144"/>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2" r="0" b="-62"/>
            </a:stretch>
          </a:blipFill>
        </p:spPr>
      </p:sp>
      <p:sp>
        <p:nvSpPr>
          <p:cNvPr name="TextBox 3" id="3"/>
          <p:cNvSpPr txBox="true"/>
          <p:nvPr/>
        </p:nvSpPr>
        <p:spPr>
          <a:xfrm rot="0">
            <a:off x="5734975" y="3837223"/>
            <a:ext cx="7158157" cy="1566544"/>
          </a:xfrm>
          <a:prstGeom prst="rect">
            <a:avLst/>
          </a:prstGeom>
        </p:spPr>
        <p:txBody>
          <a:bodyPr anchor="t" rtlCol="false" tIns="0" lIns="0" bIns="0" rIns="0">
            <a:spAutoFit/>
          </a:bodyPr>
          <a:lstStyle/>
          <a:p>
            <a:pPr algn="ctr">
              <a:lnSpc>
                <a:spcPts val="12880"/>
              </a:lnSpc>
            </a:pPr>
            <a:r>
              <a:rPr lang="en-US" b="true" sz="9200">
                <a:solidFill>
                  <a:srgbClr val="0097B2"/>
                </a:solidFill>
                <a:latin typeface="Canva Sans Bold"/>
                <a:ea typeface="Canva Sans Bold"/>
                <a:cs typeface="Canva Sans Bold"/>
                <a:sym typeface="Canva Sans Bold"/>
              </a:rPr>
              <a:t>THANK YOU </a:t>
            </a:r>
          </a:p>
        </p:txBody>
      </p:sp>
      <p:sp>
        <p:nvSpPr>
          <p:cNvPr name="TextBox 4" id="4"/>
          <p:cNvSpPr txBox="true"/>
          <p:nvPr/>
        </p:nvSpPr>
        <p:spPr>
          <a:xfrm rot="0">
            <a:off x="7612986" y="5765389"/>
            <a:ext cx="2386727" cy="580390"/>
          </a:xfrm>
          <a:prstGeom prst="rect">
            <a:avLst/>
          </a:prstGeom>
        </p:spPr>
        <p:txBody>
          <a:bodyPr anchor="t" rtlCol="false" tIns="0" lIns="0" bIns="0" rIns="0">
            <a:spAutoFit/>
          </a:bodyPr>
          <a:lstStyle/>
          <a:p>
            <a:pPr algn="ctr">
              <a:lnSpc>
                <a:spcPts val="4759"/>
              </a:lnSpc>
            </a:pPr>
            <a:r>
              <a:rPr lang="en-US" sz="3399">
                <a:solidFill>
                  <a:srgbClr val="0097B2"/>
                </a:solidFill>
                <a:latin typeface="Canva Sans"/>
                <a:ea typeface="Canva Sans"/>
                <a:cs typeface="Canva Sans"/>
                <a:sym typeface="Canva Sans"/>
              </a:rPr>
              <a:t>Link to vide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DAGrkuzueAE</dc:identifier>
  <dcterms:modified xsi:type="dcterms:W3CDTF">2011-08-01T06:04:30Z</dcterms:modified>
  <cp:revision>1</cp:revision>
  <dc:title>CDE2243_IoT_Slides_012526_&lt;AIU22102263&gt;_&lt;ABDULRAHMAN_ALAMODI&gt;.pptx</dc:title>
</cp:coreProperties>
</file>